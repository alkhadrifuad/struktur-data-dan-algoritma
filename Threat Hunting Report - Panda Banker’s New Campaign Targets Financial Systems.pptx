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8"/>
  </p:notesMasterIdLst>
  <p:sldIdLst>
    <p:sldId id="374" r:id="rId6"/>
    <p:sldId id="335" r:id="rId7"/>
    <p:sldId id="397" r:id="rId8"/>
    <p:sldId id="443" r:id="rId9"/>
    <p:sldId id="398" r:id="rId10"/>
    <p:sldId id="445" r:id="rId11"/>
    <p:sldId id="441" r:id="rId12"/>
    <p:sldId id="440" r:id="rId13"/>
    <p:sldId id="418" r:id="rId14"/>
    <p:sldId id="408" r:id="rId15"/>
    <p:sldId id="417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3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>
      <p:cViewPr>
        <p:scale>
          <a:sx n="90" d="100"/>
          <a:sy n="90" d="100"/>
        </p:scale>
        <p:origin x="370" y="-58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www.proofpoint.com/us/threat-insight/post/panda-banker-new-banking-trojan-hits-the-marke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www.securityweek.com/panda-banker-trojan-goes-japan/" TargetMode="External"/><Relationship Id="rId5" Type="http://schemas.openxmlformats.org/officeDocument/2006/relationships/hyperlink" Target="https://www.proofpoint.com/us/threat-insight/post/panda-banker-starts-looking-more-like-a-grizzly" TargetMode="External"/><Relationship Id="rId4" Type="http://schemas.openxmlformats.org/officeDocument/2006/relationships/hyperlink" Target="https://malpedia.caad.fkie.fraunhofer.de/details/win.pandabanke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Panda Banker’s New Campaign Targets Financial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433238"/>
            <a:ext cx="6704967" cy="615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>
                <a:latin typeface="Poppins"/>
                <a:cs typeface="Poppins"/>
              </a:rPr>
              <a:t>Panda Banker Malware Campaign Targeting Financial Systems 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500" dirty="0" err="1"/>
              <a:t>Sebuah</a:t>
            </a:r>
            <a:r>
              <a:rPr lang="en-ID" sz="1500" dirty="0"/>
              <a:t> </a:t>
            </a:r>
            <a:r>
              <a:rPr lang="en-ID" sz="1500" dirty="0" err="1"/>
              <a:t>kampanye</a:t>
            </a:r>
            <a:r>
              <a:rPr lang="en-ID" sz="1500" dirty="0"/>
              <a:t> yang </a:t>
            </a:r>
            <a:r>
              <a:rPr lang="en-ID" sz="1500" dirty="0" err="1"/>
              <a:t>melibatkan</a:t>
            </a:r>
            <a:r>
              <a:rPr lang="en-ID" sz="1500" dirty="0"/>
              <a:t> Trojan </a:t>
            </a:r>
            <a:r>
              <a:rPr lang="en-ID" sz="1500" dirty="0" err="1"/>
              <a:t>perbankan</a:t>
            </a:r>
            <a:r>
              <a:rPr lang="en-ID" sz="1500" dirty="0"/>
              <a:t> Panda Banker yang </a:t>
            </a:r>
            <a:r>
              <a:rPr lang="en-ID" sz="1500" dirty="0" err="1"/>
              <a:t>menargetkan</a:t>
            </a:r>
            <a:r>
              <a:rPr lang="en-ID" sz="1500" dirty="0"/>
              <a:t> </a:t>
            </a:r>
            <a:r>
              <a:rPr lang="en-ID" sz="1500" dirty="0" err="1"/>
              <a:t>kredensial</a:t>
            </a:r>
            <a:r>
              <a:rPr lang="en-ID" sz="1500" dirty="0"/>
              <a:t> </a:t>
            </a:r>
            <a:r>
              <a:rPr lang="en-ID" sz="1500" dirty="0" err="1"/>
              <a:t>finansial</a:t>
            </a:r>
            <a:r>
              <a:rPr lang="en-ID" sz="1500" dirty="0"/>
              <a:t> </a:t>
            </a:r>
            <a:r>
              <a:rPr lang="en-ID" sz="1500" dirty="0" err="1"/>
              <a:t>pengguna</a:t>
            </a:r>
            <a:r>
              <a:rPr lang="en-ID" sz="1500" dirty="0"/>
              <a:t>. Malware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merupakan</a:t>
            </a:r>
            <a:r>
              <a:rPr lang="en-ID" sz="1500" dirty="0"/>
              <a:t> </a:t>
            </a:r>
            <a:r>
              <a:rPr lang="en-ID" sz="1500" dirty="0" err="1"/>
              <a:t>varian</a:t>
            </a:r>
            <a:r>
              <a:rPr lang="en-ID" sz="1500" dirty="0"/>
              <a:t> </a:t>
            </a:r>
            <a:r>
              <a:rPr lang="en-ID" sz="1500" dirty="0" err="1"/>
              <a:t>dari</a:t>
            </a:r>
            <a:r>
              <a:rPr lang="en-ID" sz="1500" dirty="0"/>
              <a:t> </a:t>
            </a:r>
            <a:r>
              <a:rPr lang="en-ID" sz="1500" dirty="0" err="1"/>
              <a:t>keluarga</a:t>
            </a:r>
            <a:r>
              <a:rPr lang="en-ID" sz="1500" dirty="0"/>
              <a:t> Zeus yang </a:t>
            </a:r>
            <a:r>
              <a:rPr lang="en-ID" sz="1500" dirty="0" err="1"/>
              <a:t>dirancang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melakukan</a:t>
            </a:r>
            <a:r>
              <a:rPr lang="en-ID" sz="1500" dirty="0"/>
              <a:t> credential harvesting </a:t>
            </a:r>
            <a:r>
              <a:rPr lang="en-ID" sz="1500" dirty="0" err="1"/>
              <a:t>melalui</a:t>
            </a:r>
            <a:r>
              <a:rPr lang="en-ID" sz="1500" dirty="0"/>
              <a:t> </a:t>
            </a:r>
            <a:r>
              <a:rPr lang="en-ID" sz="1500" dirty="0" err="1"/>
              <a:t>teknik</a:t>
            </a:r>
            <a:r>
              <a:rPr lang="en-ID" sz="1500" dirty="0"/>
              <a:t> web inject pada browser korban. Panda Banker </a:t>
            </a:r>
            <a:r>
              <a:rPr lang="en-ID" sz="1500" dirty="0" err="1"/>
              <a:t>biasanya</a:t>
            </a:r>
            <a:r>
              <a:rPr lang="en-ID" sz="1500" dirty="0"/>
              <a:t> </a:t>
            </a:r>
            <a:r>
              <a:rPr lang="en-ID" sz="1500" dirty="0" err="1"/>
              <a:t>menyebar</a:t>
            </a:r>
            <a:r>
              <a:rPr lang="en-ID" sz="1500" dirty="0"/>
              <a:t> </a:t>
            </a:r>
            <a:r>
              <a:rPr lang="en-ID" sz="1500" dirty="0" err="1"/>
              <a:t>melalui</a:t>
            </a:r>
            <a:r>
              <a:rPr lang="en-ID" sz="1500" dirty="0"/>
              <a:t> email phishing, exploit kit, </a:t>
            </a:r>
            <a:r>
              <a:rPr lang="en-ID" sz="1500" dirty="0" err="1"/>
              <a:t>atau</a:t>
            </a:r>
            <a:r>
              <a:rPr lang="en-ID" sz="1500" dirty="0"/>
              <a:t> download </a:t>
            </a:r>
            <a:r>
              <a:rPr lang="en-ID" sz="1500" dirty="0" err="1"/>
              <a:t>aplikasi</a:t>
            </a:r>
            <a:r>
              <a:rPr lang="en-ID" sz="1500" dirty="0"/>
              <a:t> </a:t>
            </a:r>
            <a:r>
              <a:rPr lang="en-ID" sz="1500" dirty="0" err="1"/>
              <a:t>berbahaya</a:t>
            </a:r>
            <a:r>
              <a:rPr lang="en-ID" sz="1500" dirty="0"/>
              <a:t>. Setelah </a:t>
            </a:r>
            <a:r>
              <a:rPr lang="en-ID" sz="1500" dirty="0" err="1"/>
              <a:t>berhasil</a:t>
            </a:r>
            <a:r>
              <a:rPr lang="en-ID" sz="1500" dirty="0"/>
              <a:t> </a:t>
            </a:r>
            <a:r>
              <a:rPr lang="en-ID" sz="1500" dirty="0" err="1"/>
              <a:t>menginfeksi</a:t>
            </a:r>
            <a:r>
              <a:rPr lang="en-ID" sz="1500" dirty="0"/>
              <a:t>, malware </a:t>
            </a:r>
            <a:r>
              <a:rPr lang="en-ID" sz="1500" dirty="0" err="1"/>
              <a:t>akan</a:t>
            </a:r>
            <a:r>
              <a:rPr lang="en-ID" sz="1500" dirty="0"/>
              <a:t> </a:t>
            </a:r>
            <a:r>
              <a:rPr lang="en-ID" sz="1500" dirty="0" err="1"/>
              <a:t>melakukan</a:t>
            </a:r>
            <a:r>
              <a:rPr lang="en-ID" sz="1500" dirty="0"/>
              <a:t> </a:t>
            </a:r>
            <a:r>
              <a:rPr lang="en-ID" sz="1500" dirty="0" err="1"/>
              <a:t>komunikasi</a:t>
            </a:r>
            <a:r>
              <a:rPr lang="en-ID" sz="1500" dirty="0"/>
              <a:t> </a:t>
            </a:r>
            <a:r>
              <a:rPr lang="en-ID" sz="1500" dirty="0" err="1"/>
              <a:t>ke</a:t>
            </a:r>
            <a:r>
              <a:rPr lang="en-ID" sz="1500" dirty="0"/>
              <a:t> server Command-and-Control (C2)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mengirim</a:t>
            </a:r>
            <a:r>
              <a:rPr lang="en-ID" sz="1500" dirty="0"/>
              <a:t> data </a:t>
            </a:r>
            <a:r>
              <a:rPr lang="en-ID" sz="1500" dirty="0" err="1"/>
              <a:t>sensitif</a:t>
            </a:r>
            <a:r>
              <a:rPr lang="en-ID" sz="1500" dirty="0"/>
              <a:t> dan </a:t>
            </a:r>
            <a:r>
              <a:rPr lang="en-ID" sz="1500" dirty="0" err="1"/>
              <a:t>menerima</a:t>
            </a:r>
            <a:r>
              <a:rPr lang="en-ID" sz="1500" dirty="0"/>
              <a:t> </a:t>
            </a:r>
            <a:r>
              <a:rPr lang="en-ID" sz="1500" dirty="0" err="1"/>
              <a:t>instruksi</a:t>
            </a:r>
            <a:r>
              <a:rPr lang="en-ID" sz="1500" dirty="0"/>
              <a:t> </a:t>
            </a:r>
            <a:r>
              <a:rPr lang="en-ID" sz="1500" dirty="0" err="1"/>
              <a:t>lanjutan</a:t>
            </a:r>
            <a:r>
              <a:rPr lang="en-ID" sz="1500" dirty="0"/>
              <a:t>. </a:t>
            </a:r>
            <a:r>
              <a:rPr lang="en-ID" sz="1500" dirty="0" err="1"/>
              <a:t>Selain</a:t>
            </a:r>
            <a:r>
              <a:rPr lang="en-ID" sz="1500" dirty="0"/>
              <a:t> </a:t>
            </a:r>
            <a:r>
              <a:rPr lang="en-ID" sz="1500" dirty="0" err="1"/>
              <a:t>itu</a:t>
            </a:r>
            <a:r>
              <a:rPr lang="en-ID" sz="1500" dirty="0"/>
              <a:t>, malware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mampu</a:t>
            </a:r>
            <a:r>
              <a:rPr lang="en-ID" sz="1500" dirty="0"/>
              <a:t> </a:t>
            </a:r>
            <a:r>
              <a:rPr lang="en-ID" sz="1500" dirty="0" err="1"/>
              <a:t>melakukan</a:t>
            </a:r>
            <a:r>
              <a:rPr lang="en-ID" sz="1500" dirty="0"/>
              <a:t> form grabbing, </a:t>
            </a:r>
            <a:r>
              <a:rPr lang="en-ID" sz="1500" dirty="0" err="1"/>
              <a:t>mencuri</a:t>
            </a:r>
            <a:r>
              <a:rPr lang="en-ID" sz="1500" dirty="0"/>
              <a:t> data login, </a:t>
            </a:r>
            <a:r>
              <a:rPr lang="en-ID" sz="1500" dirty="0" err="1"/>
              <a:t>serta</a:t>
            </a:r>
            <a:r>
              <a:rPr lang="en-ID" sz="1500" dirty="0"/>
              <a:t> </a:t>
            </a:r>
            <a:r>
              <a:rPr lang="en-ID" sz="1500" dirty="0" err="1"/>
              <a:t>memanipulasi</a:t>
            </a:r>
            <a:r>
              <a:rPr lang="en-ID" sz="1500" dirty="0"/>
              <a:t> </a:t>
            </a:r>
            <a:r>
              <a:rPr lang="en-ID" sz="1500" dirty="0" err="1"/>
              <a:t>sesi</a:t>
            </a:r>
            <a:r>
              <a:rPr lang="en-ID" sz="1500" dirty="0"/>
              <a:t> </a:t>
            </a:r>
            <a:r>
              <a:rPr lang="en-ID" sz="1500" dirty="0" err="1"/>
              <a:t>transaksi</a:t>
            </a:r>
            <a:r>
              <a:rPr lang="en-ID" sz="1500" dirty="0"/>
              <a:t> </a:t>
            </a:r>
            <a:r>
              <a:rPr lang="en-ID" sz="1500" dirty="0" err="1"/>
              <a:t>perbankan</a:t>
            </a:r>
            <a:r>
              <a:rPr lang="en-ID" sz="1500" dirty="0"/>
              <a:t> </a:t>
            </a:r>
            <a:r>
              <a:rPr lang="en-ID" sz="1500" dirty="0" err="1"/>
              <a:t>secara</a:t>
            </a:r>
            <a:r>
              <a:rPr lang="en-ID" sz="1500" dirty="0"/>
              <a:t> real-time..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Spear-Phishing Campaigns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Malicious File/Exploit Kit Delivery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Credential Harvesting (Web Inject &amp; Form Grabbing)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Command-and-Control (C2) Communication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Data Exfiltration from Mobile Devices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Financial Institutions &amp; Banking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b-NO" sz="1500" dirty="0">
                <a:ea typeface="+mn-lt"/>
                <a:cs typeface="+mn-lt"/>
              </a:rPr>
              <a:t>E-Commerce &amp; Online Payment Users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b-NO" sz="1500" dirty="0">
                <a:ea typeface="+mn-lt"/>
                <a:cs typeface="+mn-lt"/>
              </a:rPr>
              <a:t>General Internet Users (Desktop Banking Users)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b-NO" sz="1500" dirty="0">
                <a:ea typeface="+mn-lt"/>
                <a:cs typeface="+mn-lt"/>
              </a:rPr>
              <a:t>Enterprise dengan akses sistem keuangan internal</a:t>
            </a:r>
            <a:endParaRPr lang="en-ID" sz="1500" dirty="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68BF4-73F2-4DE8-A0DA-077332562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662" y="802708"/>
            <a:ext cx="4738657" cy="369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/>
              <a:t>Panda Banker’s New Campaign Targets Financial Systems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/>
              <a:t>Panda Banker’s New Campaign Targets Financial Systems.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454530"/>
              </p:ext>
            </p:extLst>
          </p:nvPr>
        </p:nvGraphicFramePr>
        <p:xfrm>
          <a:off x="346101" y="1875864"/>
          <a:ext cx="5521299" cy="3662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Deskripsi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1cccc844fcdb255f833a9ef36c2d3c690557b828ed5d0a45d068aeb2af1faac7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0fd5413365f474b99f4a49560e20c5e97418d09a2f53e5e7436b88e3f5c16668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a395357a9012b0a4087e0878e7d642877d3b856de53c71cb9805f806dc958264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fa867ddf9f3116da75b62a1bf8007410ac0d3adf7a92e7f3d2effeef982ad73d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bdc912caf9b9e078bc7bd331deacae9c460c8e8893442048b9474790c52e1ab9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6dc0bd77e51eb9af143c749539bd638020d557083479bcd4c4b9639fe61eb0f8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8d381ee21b6cbc7d3ae0e503ab7b05235eb31594d2810e67093c5e9a51437992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secpressnetwork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alwaysonline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[.]pw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FFF970-C7F7-4B56-873E-B4E9EE922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60133"/>
              </p:ext>
            </p:extLst>
          </p:nvPr>
        </p:nvGraphicFramePr>
        <p:xfrm>
          <a:off x="6096000" y="1882741"/>
          <a:ext cx="5521299" cy="2137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Deskripsi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denoted-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chioces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103[.]224[.]182[.]251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185[.]176[.]43[.]78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192[.]99[.]142[.]226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37[.]48[.]120[.]196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614484" y="5855512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E37C4-67EA-4A4B-ABF5-B930ADF7F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018" y="699365"/>
            <a:ext cx="9076558" cy="1272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D77AFE-00F1-40AE-9987-A17D8B71F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18" y="2051722"/>
            <a:ext cx="9076558" cy="12412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9244F9-EE8E-451B-95E4-998062A272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624" y="3373084"/>
            <a:ext cx="9076558" cy="11693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73311B-06C1-480A-B7AD-9FE82D9CB6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018" y="4604594"/>
            <a:ext cx="9085164" cy="125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46996" y="824702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>
                <a:latin typeface="Poppins"/>
                <a:ea typeface="+mn-lt"/>
                <a:cs typeface="Poppins"/>
              </a:rPr>
              <a:t>Panda Banker’s New Campaign Targets Financial Systems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616B2E-C41C-4DCC-A189-28F5D7761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23" y="1901920"/>
            <a:ext cx="10788825" cy="3910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361467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F9DF710-9A38-4BB4-A9F0-082CEEE70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99" y="765897"/>
            <a:ext cx="11226800" cy="450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D922996-612F-478F-91AC-DE3CC572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98" y="905933"/>
            <a:ext cx="10845801" cy="4416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02345" y="685846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Panda Banker’s New Campaign Targets Financial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44374" y="6087937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359B828-71D8-48E8-B5B9-FD1C037E9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99" y="3512002"/>
            <a:ext cx="10264586" cy="257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3285B574-92EC-40B1-9D93-47F057885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99" y="1023434"/>
            <a:ext cx="10264586" cy="242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0" y="74863"/>
            <a:ext cx="10755705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Panda Banker’s Campaign </a:t>
            </a:r>
            <a:r>
              <a:rPr lang="sv-SE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MITRE ATT&amp;CK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123911"/>
              </p:ext>
            </p:extLst>
          </p:nvPr>
        </p:nvGraphicFramePr>
        <p:xfrm>
          <a:off x="629462" y="776538"/>
          <a:ext cx="10755713" cy="4459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38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2823882">
                  <a:extLst>
                    <a:ext uri="{9D8B030D-6E8A-4147-A177-3AD203B41FA5}">
                      <a16:colId xmlns:a16="http://schemas.microsoft.com/office/drawing/2014/main" val="2250613113"/>
                    </a:ext>
                  </a:extLst>
                </a:gridCol>
                <a:gridCol w="4661646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400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Technique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Attackers deliver malicious emails containing infected attachments or links to trick users into executing the malware.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570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Execution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T1204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Execution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victim manually executes the malicious file, initiating the Panda Banker infection process.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31710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T1547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Boot or Logon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effectLst/>
                        </a:rPr>
                        <a:t>Autostart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 Execution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malware establishes persistence by modifying registry keys or creating scheduled tasks to run at system startup.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Privilege Escalation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T1068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Exploitation for Privilege Escalation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Panda Banker may exploit system vulnerabilities to gain elevated privileges on the infected host..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Credential Access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T1056</a:t>
                      </a:r>
                      <a:endParaRPr lang="en-US" sz="1400" dirty="0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Input Capture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Captures sensitive information such as banking credentials using keylogging and form grabbing techniques.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dirty="0"/>
                        <a:t>Command and Control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T1071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Application Layer Protocol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Communicates with remote C2 servers over HTTP/HTTPS to receive commands and exfiltrate data.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313567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Exfiltration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T1041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Exfiltration Over C2 Channel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Exfiltrates stolen credentials and financial data through established C2 communication channels.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impact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T1657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Financial Theft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Enables unauthorized financial transactions and account takeover activities.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36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4"/>
              </a:rPr>
              <a:t>https://malpedia.caad.fkie.fraunhofer.de/details/win.pandabanker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5"/>
              </a:rPr>
              <a:t>https://www.proofpoint.com/us/threat-insight/post/panda-banker-starts-looking-more-like-a-grizzly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6"/>
              </a:rPr>
              <a:t>https://www.securityweek.com/panda-banker-trojan-goes-japan/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7"/>
              </a:rPr>
              <a:t>https://www.proofpoint.com/us/threat-insight/post/panda-banker-new-banking-trojan-hits-the-market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2637</TotalTime>
  <Words>819</Words>
  <Application>Microsoft Office PowerPoint</Application>
  <PresentationFormat>Widescreen</PresentationFormat>
  <Paragraphs>136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Al khadri Fuado</cp:lastModifiedBy>
  <cp:revision>179</cp:revision>
  <dcterms:created xsi:type="dcterms:W3CDTF">2020-06-05T02:05:00Z</dcterms:created>
  <dcterms:modified xsi:type="dcterms:W3CDTF">2026-03-27T06:31:31Z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