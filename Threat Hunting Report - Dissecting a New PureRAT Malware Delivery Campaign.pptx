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2"/>
  </p:notesMasterIdLst>
  <p:sldIdLst>
    <p:sldId id="374" r:id="rId6"/>
    <p:sldId id="335" r:id="rId7"/>
    <p:sldId id="397" r:id="rId8"/>
    <p:sldId id="447" r:id="rId9"/>
    <p:sldId id="448" r:id="rId10"/>
    <p:sldId id="449" r:id="rId11"/>
    <p:sldId id="443" r:id="rId12"/>
    <p:sldId id="446" r:id="rId13"/>
    <p:sldId id="398" r:id="rId14"/>
    <p:sldId id="445" r:id="rId15"/>
    <p:sldId id="441" r:id="rId16"/>
    <p:sldId id="440" r:id="rId17"/>
    <p:sldId id="418" r:id="rId18"/>
    <p:sldId id="408" r:id="rId19"/>
    <p:sldId id="417" r:id="rId20"/>
    <p:sldId id="2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7"/>
            <p14:sldId id="448"/>
            <p14:sldId id="449"/>
            <p14:sldId id="443"/>
            <p14:sldId id="446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9510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66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6638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2D916D10-ECF1-3BED-BBC9-60FD8B5B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F7185735-4F65-0EFF-2598-7A49900ED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01C90AC6-5FB7-9C3E-EACF-552787D3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75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www.infosecurity-magazine.com/news/vietnamese-threat-actor-pyth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www.broadcom.com/support/security-center/protection-bulletin/a-new-purerat-malware-delivery-campaign" TargetMode="External"/><Relationship Id="rId5" Type="http://schemas.openxmlformats.org/officeDocument/2006/relationships/hyperlink" Target="https://www.scworld.com/brief/ai-used-in-purerat-malware-campaign" TargetMode="External"/><Relationship Id="rId4" Type="http://schemas.openxmlformats.org/officeDocument/2006/relationships/hyperlink" Target="https://www.esentire.com/blog/ghost-crypt-powers-purerat-with-hypnosi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Dissecting a New </a:t>
            </a:r>
            <a:r>
              <a:rPr lang="en-US" sz="2000" b="1" dirty="0" err="1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PureRAT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 Malware Delivery Campaign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794982"/>
            <a:ext cx="6704967" cy="4878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cs typeface="Poppins"/>
              </a:rPr>
              <a:t>Dissecting a New </a:t>
            </a:r>
            <a:r>
              <a:rPr lang="en-US" sz="1600" b="1" dirty="0" err="1">
                <a:latin typeface="Poppins"/>
                <a:cs typeface="Poppins"/>
              </a:rPr>
              <a:t>PureRAT</a:t>
            </a:r>
            <a:r>
              <a:rPr lang="en-US" sz="1600" b="1" dirty="0">
                <a:latin typeface="Poppins"/>
                <a:cs typeface="Poppins"/>
              </a:rPr>
              <a:t> Malware Delivery Campaign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400" dirty="0" err="1"/>
              <a:t>Kampanye</a:t>
            </a:r>
            <a:r>
              <a:rPr lang="en-ID" sz="1400" dirty="0"/>
              <a:t> </a:t>
            </a:r>
            <a:r>
              <a:rPr lang="en-ID" sz="1400" dirty="0" err="1"/>
              <a:t>PureRAT</a:t>
            </a:r>
            <a:r>
              <a:rPr lang="en-ID" sz="1400" dirty="0"/>
              <a:t> malware delivery yang </a:t>
            </a:r>
            <a:r>
              <a:rPr lang="en-ID" sz="1400" dirty="0" err="1"/>
              <a:t>baru</a:t>
            </a:r>
            <a:r>
              <a:rPr lang="en-ID" sz="1400" dirty="0"/>
              <a:t> </a:t>
            </a:r>
            <a:r>
              <a:rPr lang="en-ID" sz="1400" dirty="0" err="1"/>
              <a:t>teridentifikasi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memanfaatkan</a:t>
            </a:r>
            <a:r>
              <a:rPr lang="en-ID" sz="1400" dirty="0"/>
              <a:t> </a:t>
            </a:r>
            <a:r>
              <a:rPr lang="en-ID" sz="1400" dirty="0" err="1"/>
              <a:t>teknik</a:t>
            </a:r>
            <a:r>
              <a:rPr lang="en-ID" sz="1400" dirty="0"/>
              <a:t> social engineering dan multi-stage infection chain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mendapatkan</a:t>
            </a:r>
            <a:r>
              <a:rPr lang="en-ID" sz="1400" dirty="0"/>
              <a:t> </a:t>
            </a:r>
            <a:r>
              <a:rPr lang="en-ID" sz="1400" dirty="0" err="1"/>
              <a:t>akses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sah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target. Setelah </a:t>
            </a:r>
            <a:r>
              <a:rPr lang="en-ID" sz="1400" dirty="0" err="1"/>
              <a:t>berhasil</a:t>
            </a:r>
            <a:r>
              <a:rPr lang="en-ID" sz="1400" dirty="0"/>
              <a:t> di-deploy, </a:t>
            </a:r>
            <a:r>
              <a:rPr lang="en-ID" sz="1400" dirty="0" err="1"/>
              <a:t>PureRAT</a:t>
            </a:r>
            <a:r>
              <a:rPr lang="en-ID" sz="1400" dirty="0"/>
              <a:t> </a:t>
            </a:r>
            <a:r>
              <a:rPr lang="en-ID" sz="1400" dirty="0" err="1"/>
              <a:t>memberikan</a:t>
            </a:r>
            <a:r>
              <a:rPr lang="en-ID" sz="1400" dirty="0"/>
              <a:t> </a:t>
            </a:r>
            <a:r>
              <a:rPr lang="en-ID" sz="1400" dirty="0" err="1"/>
              <a:t>kemampuan</a:t>
            </a:r>
            <a:r>
              <a:rPr lang="en-ID" sz="1400" dirty="0"/>
              <a:t> full remote access, </a:t>
            </a:r>
            <a:r>
              <a:rPr lang="en-ID" sz="1400" dirty="0" err="1"/>
              <a:t>memungkinkan</a:t>
            </a:r>
            <a:r>
              <a:rPr lang="en-ID" sz="1400" dirty="0"/>
              <a:t> threat actor </a:t>
            </a:r>
            <a:r>
              <a:rPr lang="en-ID" sz="1400" dirty="0" err="1"/>
              <a:t>melakukan</a:t>
            </a:r>
            <a:r>
              <a:rPr lang="en-ID" sz="1400" dirty="0"/>
              <a:t> credential theft, data exfiltration, surveillance, </a:t>
            </a:r>
            <a:r>
              <a:rPr lang="en-ID" sz="1400" dirty="0" err="1"/>
              <a:t>serta</a:t>
            </a:r>
            <a:r>
              <a:rPr lang="en-ID" sz="1400" dirty="0"/>
              <a:t> lateral movement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lingkungan</a:t>
            </a:r>
            <a:r>
              <a:rPr lang="en-ID" sz="1400" dirty="0"/>
              <a:t> korban. </a:t>
            </a:r>
            <a:r>
              <a:rPr lang="en-ID" sz="1400" dirty="0" err="1"/>
              <a:t>Kampanye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menunjukkan</a:t>
            </a:r>
            <a:r>
              <a:rPr lang="en-ID" sz="1400" dirty="0"/>
              <a:t> </a:t>
            </a:r>
            <a:r>
              <a:rPr lang="en-ID" sz="1400" dirty="0" err="1"/>
              <a:t>fokus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 pada stealth, persistence, dan </a:t>
            </a:r>
            <a:r>
              <a:rPr lang="en-ID" sz="1400" dirty="0" err="1"/>
              <a:t>defense</a:t>
            </a:r>
            <a:r>
              <a:rPr lang="en-ID" sz="1400" dirty="0"/>
              <a:t> evasion </a:t>
            </a:r>
            <a:r>
              <a:rPr lang="en-ID" sz="1400" dirty="0" err="1"/>
              <a:t>guna</a:t>
            </a:r>
            <a:r>
              <a:rPr lang="en-ID" sz="1400" dirty="0"/>
              <a:t> </a:t>
            </a:r>
            <a:r>
              <a:rPr lang="en-ID" sz="1400" dirty="0" err="1"/>
              <a:t>menghindari</a:t>
            </a:r>
            <a:r>
              <a:rPr lang="en-ID" sz="1400" dirty="0"/>
              <a:t> </a:t>
            </a:r>
            <a:r>
              <a:rPr lang="en-ID" sz="1400" dirty="0" err="1"/>
              <a:t>deteksi</a:t>
            </a:r>
            <a:r>
              <a:rPr lang="en-ID" sz="1400" dirty="0"/>
              <a:t> oleh </a:t>
            </a:r>
            <a:r>
              <a:rPr lang="en-ID" sz="1400" dirty="0" err="1"/>
              <a:t>solusi</a:t>
            </a:r>
            <a:r>
              <a:rPr lang="en-ID" sz="1400" dirty="0"/>
              <a:t> </a:t>
            </a:r>
            <a:r>
              <a:rPr lang="en-ID" sz="1400" dirty="0" err="1"/>
              <a:t>keamanan</a:t>
            </a:r>
            <a:r>
              <a:rPr lang="en-ID" sz="1400" dirty="0"/>
              <a:t> modern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Phishing-Based Delivery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Malicious Document dan Archive Files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Script-Based Execution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Living-off-the-Land Techniques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Multi-Stage Payload Delivery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Pemerintahan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Publik</a:t>
            </a:r>
            <a:r>
              <a:rPr lang="en-ID" sz="1500" dirty="0">
                <a:ea typeface="+mn-lt"/>
                <a:cs typeface="+mn-lt"/>
              </a:rPr>
              <a:t> (Government &amp; Public Sector)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Perbankan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 (Banking &amp; Financial Services)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Teknologi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Layanan</a:t>
            </a:r>
            <a:r>
              <a:rPr lang="en-ID" sz="1500" dirty="0">
                <a:ea typeface="+mn-lt"/>
                <a:cs typeface="+mn-lt"/>
              </a:rPr>
              <a:t> TI (Technology &amp; IT Services)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Pendidikan dan </a:t>
            </a:r>
            <a:r>
              <a:rPr lang="en-ID" sz="1500" dirty="0" err="1">
                <a:ea typeface="+mn-lt"/>
                <a:cs typeface="+mn-lt"/>
              </a:rPr>
              <a:t>Riset</a:t>
            </a:r>
            <a:r>
              <a:rPr lang="en-ID" sz="1500" dirty="0">
                <a:ea typeface="+mn-lt"/>
                <a:cs typeface="+mn-lt"/>
              </a:rPr>
              <a:t> (Education &amp; Research)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B7300-1AD8-4A54-B45D-27B81B0FC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381" y="1306815"/>
            <a:ext cx="514020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/>
              <a:t>Dissecting a New </a:t>
            </a:r>
            <a:r>
              <a:rPr lang="en-US" sz="1600" b="1" dirty="0" err="1"/>
              <a:t>PureRAT</a:t>
            </a:r>
            <a:r>
              <a:rPr lang="en-US" sz="1600" b="1" dirty="0"/>
              <a:t> Malware Delivery Campaign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Dissecting a New </a:t>
            </a:r>
            <a:r>
              <a:rPr lang="en-US" sz="1600" dirty="0" err="1"/>
              <a:t>PureRAT</a:t>
            </a:r>
            <a:r>
              <a:rPr lang="en-US" sz="1600" dirty="0"/>
              <a:t> Malware Delivery Campaign.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181011"/>
              </p:ext>
            </p:extLst>
          </p:nvPr>
        </p:nvGraphicFramePr>
        <p:xfrm>
          <a:off x="346101" y="1875864"/>
          <a:ext cx="5521299" cy="443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06ad3e407d5370648350e64e11278fc974197ae26fa02457c5dea645d3936bc1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0a683540902704d640041438fd585bf4e0636d37c1711c1893bb09c10e854928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10debd8d5819879435d349855e7792b57b94334251357b3580dd4dd3311246c3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1280cba4e109220ce4b17e722a55f31977112df3fa170b417f67227483677cc5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12a7f1aec5303e3e2eee59d9616b7e440f9c877d0db76620e8768c85433f3762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21779c1ca04a01a58b31d6a2dabaaee4a83d839922535d6520e629699adaf6be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21aba2329d9a6f68fdc358c487a54523beb8ee7751ec69779f53df09b14f5e10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2caaf6ec466cd38dccd20a5555633e20d11ee3b345e0b93e12daabdffa676228 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2d0da28f388a9870184d0ac3905cd61947cf18830245f204033200a27c2dc3c0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2e92c68a1d4447275e4f35e9726779c72388a6f74ddfad9b73f0c02aa5b480c4 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31dbfc89186553536f88cde60228024edbcb7fb042da6be05d75653a87999cc0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13059"/>
              </p:ext>
            </p:extLst>
          </p:nvPr>
        </p:nvGraphicFramePr>
        <p:xfrm>
          <a:off x="6096000" y="1901230"/>
          <a:ext cx="5414489" cy="437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65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397eed8ff076484896dd40fefa697f714d1f2a06e1dfacf90e821283f10b41e6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3e927da764492a8122c822ab566956a65f255bd6da9f312e8e72f4d9856b8225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415a2eded0537280c574ff8927c6ffafb7685487ce01fdee9185425ff09770ac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46dc25ffcae19255b07489403f4c1050bf7a71e5e678ffdf9b41d19b9e0467b4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4728b3b51c10ec8d03d4fa82172df4ea96c0c19249c230aa7e4202434c46ba19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49d3fe3a00d8d3e247a3462e334ecd204dc9378c48ba55f19fc2a6c07ca7fd6b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4f52905aef07da42553fb843022efcfa985ad7ee7fd8a0cc58cddcd65290ccf9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5044d19ed26c72423e1039cc8c02631639a21287d1f885500bc089c6375fa719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5524b58ed2ee28c592d08a884711cb503355491dc6b474ed95a842944e7ced3b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58f029907441888fcb38bc7ef3cb854f79f47a78ef8363b8420c7c95a60c63a7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5b5d67a4fb1ff53f39988d34ea2adf62f09d6aac685c2d17f6336202eff217ee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16581"/>
              </p:ext>
            </p:extLst>
          </p:nvPr>
        </p:nvGraphicFramePr>
        <p:xfrm>
          <a:off x="308001" y="1137272"/>
          <a:ext cx="5521299" cy="4489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89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66fbf7bf5040308f4a194a6259d6490958d03ae3105964d53fd35e42a9a40197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6fe62e780bacbdf22c7cf522dc84d9a9757cf80980e43b5a3a6d4a98a1f4b61a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70defb76cc82faf19e7183aa8f92ccaf3942b39524ee80610a77aa02a690b762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7ee96809a375c35dc03abd02cd0acdd4849af5785f7c37679d4eabb739b455c0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834653eff148cb83dbfdb20ec6f769d2e454fdac4fe40bbd47bf4663f796dfec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8387e6fe5adcb90a42abdf9ed6cdfdbea66bb431f6aa7fc32d5f7137fc140090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8389c6564abc4a7556abdc72f399fb3339db9492628d25eda1a3cec954c0c68d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8a15a4a4d5158b8826b478a33e407bd1ffb39e010e0986a5547f114ffe6e9167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8c210acf7e491abdd73960cc6d2f3ead7872d7221af9e151cae650d6634b899c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98fef41aa11235e714b458259bba9720c2de0e88b7a190167bd0077ee1e038f4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9b94a6d16e357bf57e84db3a749f40231841f2a34cec414256d5c8f63facf84c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32224"/>
              </p:ext>
            </p:extLst>
          </p:nvPr>
        </p:nvGraphicFramePr>
        <p:xfrm>
          <a:off x="5999286" y="1128172"/>
          <a:ext cx="5414489" cy="449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9fdc1691e1c96acff6cb18a26f135fabaec5ceed394b28dabac068a991c4f0e7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a0c26e5fd249e284b403a74250cd1f5d34c6b90369b082c8050267f7efc6d15d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a1f3c59c59eabfd89a6be69bea4d10e4a490ac6e9c931e8fa4c4b2c8e7580389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a6cc3ee93342adc4ac9a0e9600504199688b20fea4e9e5a06d3b3a2b6fbfc075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aec135d23f695c9338e1333a8c975544053e8c2615f842b73b085bc96906696d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b04b506eb06303d00b3f02d0dbcd20d3bfe93e4030c6db1655136198ea40e9c3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b398e081284b09c8c049e319e87d74bf4df4f0423efbab9202fdc64ed7ca9fd9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ba2f77577811cbf5c1ba579e730e283a076157612a73137213296a3851d901ea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bce2cd273f4610387c32bfb80ecd0402c70d97f89c57611e7f79344033da3e55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c09bec5f1a9e222de8cf968ffa63492542f7c5860079105895e8908d366460f6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c1c509f40ede7d4a33a092114bbab1e6b4d29fbf21f6ce5f2356902506b6c8f3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1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33278"/>
              </p:ext>
            </p:extLst>
          </p:nvPr>
        </p:nvGraphicFramePr>
        <p:xfrm>
          <a:off x="217041" y="711346"/>
          <a:ext cx="5521299" cy="553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56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c5ad8eaae4d107523300d4e6681a15a94848adb8f13516e0d00575fc32957997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c5b1990c35e5f801878b8347b548356243dfb8396e22870f2db7c0d9ad9374ab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d06ec13250708cab022d76b78adf8bbe3b4cf1d7f6e483f2624c18d232e3f896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d293aa394efe4112ed95951aafc43e04975d8c9d715dcb170b4d3ae0cec8af5b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d3fb96a634269b8fb1cc1edaa2c4fdcff60aab887da7de4dc9f7c968c9bb49b1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d45eb4b8130132055b44ffe4462888d5bb90f11ac0c07312d09b8b8abc0b23ce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da37825fb5428c6788db3296b0bfaaa8197704699bcdb240d8b032350faa59ae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dc0a8a417b64193d507839c57c3718d5ccfcade6cb917ae6c729be166edc5b9b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dcefa82d7ac6887a253effb54d611e8df15177a993c7d53e453e5ea92f404983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de1ed295857e5551dd7ff1ff34f92d670ef237acf3c4326ddd94bf0956b6a807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de2f6a3056f74e104e0e9134c2652662a8fc0e9ccf519e83c033b6df0a98ae05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df38de5eb1f5d534e1a836fbf34552bc80d722bb5301976707ee2dd78997bfc5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706232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e59655948efb89b4d905dd4bbbac28c7a06e4a03ec5bc93b9ea1c0a43f91bfcf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282680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e62e0851ddf145c3c2c1fb1fbccb7252dce0edd427c8ba74d9b6ff813c36c728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0459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072589"/>
              </p:ext>
            </p:extLst>
          </p:nvPr>
        </p:nvGraphicFramePr>
        <p:xfrm>
          <a:off x="5935973" y="711346"/>
          <a:ext cx="5414489" cy="5531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890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e927e64c4d88c19d708dca504bcf220fd25cbc6fa91e573eba97e52d745288fc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ea0630d4582cbf033fa75d4ce1f1e8371181ed58d7961f0c98b66f458ca46c45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ecb67b475457fdd3bfbb7a0911b657a1eb8343ca982e5037b062914d991e772e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efe49c9134756beba5b475b5e396fdf72a917bb007310bb69d4299c10259ee42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effba77be35fb75299883957d3acf9560970a054bc85d20457552e3511293cd0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f2d07dd0dda0c0fd94427fa03b5fd83a73933904678b35afd8723130d65196e0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f35958930f3f4e8a13f09c2c3eba4771652b6a03338913ddeb6b0278c306bec6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056142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f3c54064ae75e0f7aaec74acf749716d15f8f1856f002f5ccb3bcb9daf140171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912798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F83cf38fd1315530c6d325eb5082c1fe38e0037fdd28dec5e7e2bdd6cd75e3ed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138425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fae70495819c22d4563d2ece75b4dce210635ebc3136b69365b40564f26b7efa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15847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fcd644e03e1958122feb1b7163df49927bb4e4d09c51948b5950e5d809ecf955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733749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dmca-wipo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71976"/>
                  </a:ext>
                </a:extLst>
              </a:tr>
              <a:tr h="403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ginten555333[.]com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64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2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448856"/>
              </p:ext>
            </p:extLst>
          </p:nvPr>
        </p:nvGraphicFramePr>
        <p:xfrm>
          <a:off x="217041" y="711346"/>
          <a:ext cx="5521299" cy="3293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56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139.99.17[.]175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144.172.116[.]103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139.99.17[.]184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217.217.253[.]186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116.202.214[.]234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103.166.185[.]228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15.235.172[.]166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192.30.139[.]187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63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5BED1-7DA4-4E11-87D3-DC0EA195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624" y="725489"/>
            <a:ext cx="9076558" cy="1272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F3920D-893C-47DD-8F3D-1A219F7DE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624" y="2063663"/>
            <a:ext cx="9076558" cy="12088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C6105B-8855-4FCE-B63C-2E16A5830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24" y="3338436"/>
            <a:ext cx="9076558" cy="12088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193AEC-08D8-429F-9087-5FC35260F1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624" y="4613209"/>
            <a:ext cx="9076558" cy="127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02029FA3-04E6-BC2D-838E-209583DB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685D5AD3-1423-AEF5-FFDE-596D976022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8EE6E84-9320-DCF1-07FE-8035B52C7844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354F2CD-5EDE-E8CF-E605-6034F530936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1D05F805-DB6C-CA35-2FA3-2949D5790055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EA5BF-8D8A-D408-0499-031CB9C10E39}"/>
              </a:ext>
            </a:extLst>
          </p:cNvPr>
          <p:cNvSpPr txBox="1"/>
          <p:nvPr/>
        </p:nvSpPr>
        <p:spPr>
          <a:xfrm>
            <a:off x="3631906" y="5976195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8C1F2-8FF1-4F7F-A637-263D228E9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399" y="4625942"/>
            <a:ext cx="8740697" cy="13502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053DA8-83C8-462D-9773-B1DA5A3A4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398" y="3320238"/>
            <a:ext cx="8740697" cy="1227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5AD796-98F7-4D82-AB75-17DF48F00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398" y="2052663"/>
            <a:ext cx="8740697" cy="1227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8CACFF-E73C-4136-8994-DD86C78E37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8" y="765897"/>
            <a:ext cx="8740697" cy="12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3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Dissecting a New 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PureRAT</a:t>
            </a:r>
            <a:r>
              <a:rPr lang="en-US" sz="1600" b="1" dirty="0">
                <a:latin typeface="Poppins"/>
                <a:ea typeface="+mn-lt"/>
                <a:cs typeface="Poppins"/>
              </a:rPr>
              <a:t> Malware Delivery Campaign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F44AF3-CC9E-4920-9B8E-CAA867EC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3" y="1960725"/>
            <a:ext cx="10408023" cy="386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FE5FE70-70A0-4E85-8BEE-2A14A5C11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3" y="860612"/>
            <a:ext cx="10578353" cy="443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78493B-3D40-45A6-B31A-8265E83E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93" y="760462"/>
            <a:ext cx="11107271" cy="456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24538" y="763881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</a:t>
            </a:r>
            <a:r>
              <a:rPr lang="en-US" sz="1300" dirty="0" err="1">
                <a:latin typeface="Arial"/>
                <a:cs typeface="Arial"/>
              </a:rPr>
              <a:t>GravityRAT</a:t>
            </a:r>
            <a:r>
              <a:rPr lang="en-US" sz="1300" dirty="0">
                <a:latin typeface="Arial"/>
                <a:cs typeface="Arial"/>
              </a:rPr>
              <a:t> Malware Targets Windows, Android, and macOS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FCBEAD9-5391-40D8-AA5B-9ADDC52CC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0" y="1056269"/>
            <a:ext cx="11598441" cy="498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0" y="74863"/>
            <a:ext cx="10755705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PureRAT Malware Delivery Campaign via 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876156"/>
              </p:ext>
            </p:extLst>
          </p:nvPr>
        </p:nvGraphicFramePr>
        <p:xfrm>
          <a:off x="629462" y="776538"/>
          <a:ext cx="10755713" cy="3615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795999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89529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Phishing: Spearphishing Attachment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PureRAT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 is delivered via phishing emails containing malicious attachments that lure victims into executing the initial payload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T1059.001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Command and Scripting Interpreter: PowerShell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PowerShell is used to execute malicious scripts and download the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PureRAT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payload in a stealthy manner.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T1547.001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Boot or Logon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Autostart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 Execution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establishes persistence by configuring autorun mechanisms to survive system reboots.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Obfuscated Files or Information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PureRAT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payloads are obfuscated to evade signature-based detection and hinder analysis..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T1555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Credentials from Password Stores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harvests credentials stored in browsers and local applications.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Command and Control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T1071.001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Application Layer Protocol: Web Protocols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PureRAT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 communicates with its command-and-control servers over HTTP/HTTPS to receive commands and exfiltrate data.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https://www.esentire.com/blog/ghost-crypt-powers-purerat-with-hypnosis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https://www.scworld.com/brief/ai-used-in-purerat-malware-campaign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https://www.broadcom.com/support/security-center/protection-bulletin/a-new-purerat-malware-delivery-campaign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https://www.infosecurity-magazine.com/news/vietnamese-threat-actor-python/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1007</Words>
  <Application>Microsoft Office PowerPoint</Application>
  <PresentationFormat>Widescreen</PresentationFormat>
  <Paragraphs>343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127</cp:revision>
  <dcterms:created xsi:type="dcterms:W3CDTF">2020-06-05T02:05:00Z</dcterms:created>
  <dcterms:modified xsi:type="dcterms:W3CDTF">2026-02-02T06:51:07Z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