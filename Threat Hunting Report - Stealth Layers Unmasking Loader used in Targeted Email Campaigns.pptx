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8"/>
  </p:notesMasterIdLst>
  <p:sldIdLst>
    <p:sldId id="374" r:id="rId6"/>
    <p:sldId id="335" r:id="rId7"/>
    <p:sldId id="397" r:id="rId8"/>
    <p:sldId id="443" r:id="rId9"/>
    <p:sldId id="398" r:id="rId10"/>
    <p:sldId id="445" r:id="rId11"/>
    <p:sldId id="441" r:id="rId12"/>
    <p:sldId id="440" r:id="rId13"/>
    <p:sldId id="418" r:id="rId14"/>
    <p:sldId id="408" r:id="rId15"/>
    <p:sldId id="417" r:id="rId16"/>
    <p:sldId id="29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398"/>
            <p14:sldId id="445"/>
            <p14:sldId id="441"/>
            <p14:sldId id="440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40D31E88-4684-7B52-B503-430E8872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8111C68-BE4D-AFAC-35E1-BECE35EA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27BC05C-ADF3-62E4-3E4C-7C8CC1234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70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01B06FB0-D9BB-3E6E-7298-BE97FEF7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C466621-3254-D845-22DD-E273E8E97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ADF01486-B0E0-3081-6E99-907E4519E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4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DEE13971-C554-7631-DFA8-F7129EF0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A0CB89A4-E1E7-67B2-2587-8F95C436C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C180819F-F989-CE86-DFA7-AB1E573E1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997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www.nextron-systems.com/2025/05/23/katz-stealer-threat-analysi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cyble.com/blog/stealth-in-layers-unmasking-loader-in-targeted-email-campaigns/" TargetMode="External"/><Relationship Id="rId5" Type="http://schemas.openxmlformats.org/officeDocument/2006/relationships/hyperlink" Target="https://www.seqrite.com/blog/steganographic-campaign-distributing-malware" TargetMode="External"/><Relationship Id="rId4" Type="http://schemas.openxmlformats.org/officeDocument/2006/relationships/hyperlink" Target="https://www.zscaler.com/blogs/security-research/blindeagle-targets-colombian-government-agency-caminho-and-dcra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Stealth Layers Unmasking Loader used in Targeted Email Campaigns</a:t>
            </a:r>
          </a:p>
          <a:p>
            <a:pPr algn="ctr"/>
            <a:endParaRPr lang="en-US" sz="2000" b="1" dirty="0">
              <a:solidFill>
                <a:srgbClr val="FFFFFF"/>
              </a:solidFill>
              <a:latin typeface="Poppins"/>
              <a:ea typeface="+mn-lt"/>
              <a:cs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894903"/>
            <a:ext cx="6704967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>
                <a:latin typeface="Poppins"/>
                <a:cs typeface="Poppins"/>
              </a:rPr>
              <a:t>Stealth Layers Unmasking Loader used in Targeted Email Campaigns</a:t>
            </a:r>
            <a:r>
              <a:rPr lang="en-ID" b="1" dirty="0">
                <a:latin typeface="Poppins"/>
                <a:cs typeface="Poppins"/>
              </a:rPr>
              <a:t>:</a:t>
            </a:r>
            <a:endParaRPr lang="en-ID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500" dirty="0" err="1"/>
              <a:t>Sebuah</a:t>
            </a:r>
            <a:r>
              <a:rPr lang="en-ID" sz="1500" dirty="0"/>
              <a:t> </a:t>
            </a:r>
            <a:r>
              <a:rPr lang="en-ID" sz="1500" dirty="0" err="1"/>
              <a:t>kampanye</a:t>
            </a:r>
            <a:r>
              <a:rPr lang="en-ID" sz="1500" dirty="0"/>
              <a:t> email </a:t>
            </a:r>
            <a:r>
              <a:rPr lang="en-ID" sz="1500" dirty="0" err="1"/>
              <a:t>terarah</a:t>
            </a:r>
            <a:r>
              <a:rPr lang="en-ID" sz="1500" dirty="0"/>
              <a:t> yang </a:t>
            </a:r>
            <a:r>
              <a:rPr lang="en-ID" sz="1500" dirty="0" err="1"/>
              <a:t>melibatkan</a:t>
            </a:r>
            <a:r>
              <a:rPr lang="en-ID" sz="1500" dirty="0"/>
              <a:t> </a:t>
            </a:r>
            <a:r>
              <a:rPr lang="en-ID" sz="1500" dirty="0" err="1"/>
              <a:t>penggunaan</a:t>
            </a:r>
            <a:r>
              <a:rPr lang="en-ID" sz="1500" dirty="0"/>
              <a:t> loader </a:t>
            </a:r>
            <a:r>
              <a:rPr lang="en-ID" sz="1500" dirty="0" err="1"/>
              <a:t>berbahaya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menyebarkan</a:t>
            </a:r>
            <a:r>
              <a:rPr lang="en-ID" sz="1500" dirty="0"/>
              <a:t> malware </a:t>
            </a:r>
            <a:r>
              <a:rPr lang="en-ID" sz="1500" dirty="0" err="1"/>
              <a:t>melalui</a:t>
            </a:r>
            <a:r>
              <a:rPr lang="en-ID" sz="1500" dirty="0"/>
              <a:t> </a:t>
            </a:r>
            <a:r>
              <a:rPr lang="en-ID" sz="1500" dirty="0" err="1"/>
              <a:t>teknik</a:t>
            </a:r>
            <a:r>
              <a:rPr lang="en-ID" sz="1500" dirty="0"/>
              <a:t> stealth layers yang </a:t>
            </a:r>
            <a:r>
              <a:rPr lang="en-ID" sz="1500" dirty="0" err="1"/>
              <a:t>rumit</a:t>
            </a:r>
            <a:r>
              <a:rPr lang="en-ID" sz="1500" dirty="0"/>
              <a:t>. Malware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sering</a:t>
            </a:r>
            <a:r>
              <a:rPr lang="en-ID" sz="1500" dirty="0"/>
              <a:t> kali </a:t>
            </a:r>
            <a:r>
              <a:rPr lang="en-ID" sz="1500" dirty="0" err="1"/>
              <a:t>disamarkan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bentuk</a:t>
            </a:r>
            <a:r>
              <a:rPr lang="en-ID" sz="1500" dirty="0"/>
              <a:t> file </a:t>
            </a:r>
            <a:r>
              <a:rPr lang="en-ID" sz="1500" dirty="0" err="1"/>
              <a:t>atau</a:t>
            </a:r>
            <a:r>
              <a:rPr lang="en-ID" sz="1500" dirty="0"/>
              <a:t> </a:t>
            </a:r>
            <a:r>
              <a:rPr lang="en-ID" sz="1500" dirty="0" err="1"/>
              <a:t>tautan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email phishing. Setelah </a:t>
            </a:r>
            <a:r>
              <a:rPr lang="en-ID" sz="1500" dirty="0" err="1"/>
              <a:t>berhasil</a:t>
            </a:r>
            <a:r>
              <a:rPr lang="en-ID" sz="1500" dirty="0"/>
              <a:t> </a:t>
            </a:r>
            <a:r>
              <a:rPr lang="en-ID" sz="1500" dirty="0" err="1"/>
              <a:t>menginfeksi</a:t>
            </a:r>
            <a:r>
              <a:rPr lang="en-ID" sz="1500" dirty="0"/>
              <a:t> </a:t>
            </a:r>
            <a:r>
              <a:rPr lang="en-ID" sz="1500" dirty="0" err="1"/>
              <a:t>perangkat</a:t>
            </a:r>
            <a:r>
              <a:rPr lang="en-ID" sz="1500" dirty="0"/>
              <a:t> korban, malware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kemudian</a:t>
            </a:r>
            <a:r>
              <a:rPr lang="en-ID" sz="1500" dirty="0"/>
              <a:t> </a:t>
            </a:r>
            <a:r>
              <a:rPr lang="en-ID" sz="1500" dirty="0" err="1"/>
              <a:t>mengunduh</a:t>
            </a:r>
            <a:r>
              <a:rPr lang="en-ID" sz="1500" dirty="0"/>
              <a:t> dan </a:t>
            </a:r>
            <a:r>
              <a:rPr lang="en-ID" sz="1500" dirty="0" err="1"/>
              <a:t>mengeksekusi</a:t>
            </a:r>
            <a:r>
              <a:rPr lang="en-ID" sz="1500" dirty="0"/>
              <a:t> loader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menjalankan</a:t>
            </a:r>
            <a:r>
              <a:rPr lang="en-ID" sz="1500" dirty="0"/>
              <a:t> </a:t>
            </a:r>
            <a:r>
              <a:rPr lang="en-ID" sz="1500" dirty="0" err="1"/>
              <a:t>serangan</a:t>
            </a:r>
            <a:r>
              <a:rPr lang="en-ID" sz="1500" dirty="0"/>
              <a:t> </a:t>
            </a: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lanjut</a:t>
            </a:r>
            <a:r>
              <a:rPr lang="en-ID" sz="1500" dirty="0"/>
              <a:t>, </a:t>
            </a:r>
            <a:r>
              <a:rPr lang="en-ID" sz="1500" dirty="0" err="1"/>
              <a:t>seperti</a:t>
            </a:r>
            <a:r>
              <a:rPr lang="en-ID" sz="1500" dirty="0"/>
              <a:t> </a:t>
            </a:r>
            <a:r>
              <a:rPr lang="en-ID" sz="1500" dirty="0" err="1"/>
              <a:t>mencuri</a:t>
            </a:r>
            <a:r>
              <a:rPr lang="en-ID" sz="1500" dirty="0"/>
              <a:t> data </a:t>
            </a:r>
            <a:r>
              <a:rPr lang="en-ID" sz="1500" dirty="0" err="1"/>
              <a:t>sensitif</a:t>
            </a:r>
            <a:r>
              <a:rPr lang="en-ID" sz="1500" dirty="0"/>
              <a:t> dan </a:t>
            </a:r>
            <a:r>
              <a:rPr lang="en-ID" sz="1500" dirty="0" err="1"/>
              <a:t>memanipulasi</a:t>
            </a:r>
            <a:r>
              <a:rPr lang="en-ID" sz="1500" dirty="0"/>
              <a:t> </a:t>
            </a:r>
            <a:r>
              <a:rPr lang="en-ID" sz="1500" dirty="0" err="1"/>
              <a:t>sesi</a:t>
            </a:r>
            <a:r>
              <a:rPr lang="en-ID" sz="1500" dirty="0"/>
              <a:t> login </a:t>
            </a:r>
            <a:r>
              <a:rPr lang="en-ID" sz="1500" dirty="0" err="1"/>
              <a:t>secara</a:t>
            </a:r>
            <a:r>
              <a:rPr lang="en-ID" sz="1500" dirty="0"/>
              <a:t> real-time.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menyusup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mengumpulkan</a:t>
            </a:r>
            <a:r>
              <a:rPr lang="en-ID" sz="1500" dirty="0">
                <a:ea typeface="+mn-lt"/>
                <a:cs typeface="+mn-lt"/>
              </a:rPr>
              <a:t> data </a:t>
            </a:r>
            <a:r>
              <a:rPr lang="en-ID" sz="1500" dirty="0" err="1">
                <a:ea typeface="+mn-lt"/>
                <a:cs typeface="+mn-lt"/>
              </a:rPr>
              <a:t>sensitif</a:t>
            </a:r>
            <a:r>
              <a:rPr lang="en-ID" sz="1500" dirty="0">
                <a:ea typeface="+mn-lt"/>
                <a:cs typeface="+mn-lt"/>
              </a:rPr>
              <a:t>:</a:t>
            </a:r>
            <a:endParaRPr lang="en-ID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Spear-Phishing Campaigns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Malicious File/Exploit Kit Delivery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Credential Harvesting (Web Inject &amp; Form Grabbing)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Command-and-Control (C2) Communication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>
                <a:ea typeface="+mn-lt"/>
                <a:cs typeface="+mn-lt"/>
              </a:rPr>
              <a:t>Data Exfiltration from Mobile Devices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Financial Institutions &amp; Banking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E-Commerce &amp; Online Payment Users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General Internet Users (Desktop Banking Users)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nb-NO" sz="1500" dirty="0">
                <a:ea typeface="+mn-lt"/>
                <a:cs typeface="+mn-lt"/>
              </a:rPr>
              <a:t>Enterprise Internal System</a:t>
            </a:r>
            <a:endParaRPr lang="en-ID" sz="1500" dirty="0"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F3A1B-4A12-4AE3-9FEB-8C9AF9EF6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0" y="1048928"/>
            <a:ext cx="4796118" cy="32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/>
              <a:t>Stealth Layers Unmasking Loader used in Targeted Email Campaigns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dirty="0"/>
              <a:t>Stealth Layers Unmasking Loader used in Targeted Email Campaigns.</a:t>
            </a:r>
          </a:p>
          <a:p>
            <a:pPr algn="just"/>
            <a:r>
              <a:rPr lang="en-US" sz="1600" dirty="0"/>
              <a:t>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5310"/>
              </p:ext>
            </p:extLst>
          </p:nvPr>
        </p:nvGraphicFramePr>
        <p:xfrm>
          <a:off x="346101" y="1875864"/>
          <a:ext cx="5521299" cy="368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Deskripsi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5c0e3209559f83788275b73ac3bcc61867ece6922afabe3ac672240c1c46b1d3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c1322b21eb3f300a7ab0f435d6bcf6941fd0fbd58b02f7af797af464c920040a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3dfa22389fe1a2e4628c2951f1756005a0b9effdab8de3b0f6bb36b764e2b84a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bb05f1ef4c86620c6b7e8b3596398b3b2789d8e3b48138e12a59b362549b799d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0f1fdbc5adb37f1de0a586e9672a28a5d77f3ca4eff8e3dcf6392c5e4611f914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917e5c0a8c95685dc88148d2e3262af6c00b96260e5d43fe158319de5f7c313e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4399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d0fe6555bc72a7a45a836ea137850e6e687998eb1c4465b8ad1fb6119ff882ab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63154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8f3dc1649150961e2bac40d8dabe5be160306bcaaa69ebe040d8d6e634987829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949091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03548c9fad49820c52ff497f90232f68e044958027f330c2c51c80f545944fc1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5731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FFF970-C7F7-4B56-873E-B4E9EE922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905887"/>
              </p:ext>
            </p:extLst>
          </p:nvPr>
        </p:nvGraphicFramePr>
        <p:xfrm>
          <a:off x="6096000" y="1882741"/>
          <a:ext cx="5521299" cy="2546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686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3675525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095088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4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No.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IoC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Deskripsi</a:t>
                      </a:r>
                      <a:endParaRPr lang="en-ID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08a5d0d8ec398acc707bb26cb3d8ee2187f8c33a3cbdee641262cfc3aed1e91d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  <a:endParaRPr lang="en-ID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c208d8d0493c60f14172acb4549dcb394d2b92d30bcae4880e66df3c3a7100e4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d139bfe642f3080b461677f55768fac1ae1344e529a57732cc740b23e104bff0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242424"/>
                          </a:solidFill>
                          <a:latin typeface="Calibri"/>
                        </a:rPr>
                        <a:t>e7666af17732e9a3954f6308bc52866b937ac67099faa212518d5592baca5d44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38.49.210[.]241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120538"/>
                  </a:ext>
                </a:extLst>
              </a:tr>
              <a:tr h="359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startmenuexperiencehost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ydns</a:t>
                      </a: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[.]</a:t>
                      </a:r>
                      <a:r>
                        <a:rPr lang="en-US" sz="1200" b="0" i="0" u="none" strike="noStrike" baseline="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eu</a:t>
                      </a:r>
                      <a:endParaRPr lang="en-US" sz="1200" b="0" i="0" u="none" strike="noStrike" baseline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Domain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931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614484" y="5855512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IoC Pada Threat Intelligence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C42F5-C6A7-44FE-A34A-0FBB8AA78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018" y="1999883"/>
            <a:ext cx="9076558" cy="137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5B583D-1AE4-407C-841B-2A52AA10F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18" y="725489"/>
            <a:ext cx="9085164" cy="12702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FDEBD5-6F17-4EAE-8503-A2078684E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018" y="3353674"/>
            <a:ext cx="9076558" cy="12509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32D4A8-E1DC-496A-ADA0-752A55EC10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018" y="4604593"/>
            <a:ext cx="9076558" cy="12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46996" y="824702"/>
            <a:ext cx="1165035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Stealth Layers Unmasking Loader used in Targeted Email Campaigns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540157" y="5812242"/>
            <a:ext cx="30897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SHA-256 pada XDR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C39CDE-3EBF-43C0-BC6C-8E2ECCC05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60724"/>
            <a:ext cx="11376212" cy="385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AA35E168-48E9-D4A4-57F6-BB48B5DB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A41E3C48-1F66-5DB4-094C-1B55BAC25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C20C757D-B22D-A7D7-B566-6717574EA752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263C1995-5423-E856-AAD6-A77615749EFF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68DE4C97-4598-F954-3584-16F643069A3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00EB8-8156-2AB5-3AC9-010AD50EF5D0}"/>
              </a:ext>
            </a:extLst>
          </p:cNvPr>
          <p:cNvSpPr txBox="1"/>
          <p:nvPr/>
        </p:nvSpPr>
        <p:spPr>
          <a:xfrm>
            <a:off x="4351117" y="5361467"/>
            <a:ext cx="34897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latin typeface="Poppins"/>
                <a:cs typeface="Poppins"/>
              </a:rPr>
              <a:t>Pengecekan Request DNS pada XDR Data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C65B653-C402-4777-9199-5441E03BE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6" y="797404"/>
            <a:ext cx="10784539" cy="456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6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3FFA6E84-04AC-EFFC-3CA1-7C3CBF0D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DEE5EC9-361B-A9E0-A7BB-3190084D57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5DF21640-EE14-A6C9-C4E2-4361C7B86553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F0E31B0A-6038-5AFC-7FA3-AEC1C0C3DD1A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7A2523A7-709C-19F5-E04B-7D629ED064F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lanjutan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)</a:t>
            </a:r>
            <a:endParaRPr lang="en-US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7C8F5-C502-58BA-10B8-98D1CB44D9AA}"/>
              </a:ext>
            </a:extLst>
          </p:cNvPr>
          <p:cNvSpPr txBox="1"/>
          <p:nvPr/>
        </p:nvSpPr>
        <p:spPr>
          <a:xfrm>
            <a:off x="4018645" y="5401925"/>
            <a:ext cx="4154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err="1">
                <a:latin typeface="Poppins"/>
                <a:cs typeface="Poppins"/>
              </a:rPr>
              <a:t>Pengecekan</a:t>
            </a:r>
            <a:r>
              <a:rPr lang="en-US" sz="1200" i="1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79529CD-00B9-4EB1-AD34-DCA08AF55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76" y="964862"/>
            <a:ext cx="10793506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52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5DB29657-CDFF-BF92-EAC8-E10660721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423A11E0-3C23-12B4-4946-4CF9B314D4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20183D52-A32F-459C-CA41-FD6EBBD6F8F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76310EAD-1764-F0EE-888D-91345717BD9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FA993AFB-76FF-08E4-4744-051F27C41CDD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3CFE129-15BB-E6CF-21CC-BC67FB266EAE}"/>
              </a:ext>
            </a:extLst>
          </p:cNvPr>
          <p:cNvSpPr txBox="1"/>
          <p:nvPr/>
        </p:nvSpPr>
        <p:spPr>
          <a:xfrm>
            <a:off x="102345" y="685846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Stealth Layers Unmasking Loader used in Targeted Email Campaigns.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06F7-8D1F-89F9-2953-45A0355F81DA}"/>
              </a:ext>
            </a:extLst>
          </p:cNvPr>
          <p:cNvSpPr txBox="1"/>
          <p:nvPr/>
        </p:nvSpPr>
        <p:spPr>
          <a:xfrm>
            <a:off x="3344374" y="6087937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IoC pada Indicator XSIAM &amp; Block Hash pada XDR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C3147D-58F2-4430-A303-5E7B445F0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99" y="3462454"/>
            <a:ext cx="10264586" cy="265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F1F6E50-ACAC-4098-B5DC-6C3686745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99" y="1023435"/>
            <a:ext cx="10264586" cy="239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8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0" y="74863"/>
            <a:ext cx="10755705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Stealth Layers Unmasking </a:t>
            </a:r>
            <a:r>
              <a:rPr lang="sv-SE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MITRE ATT&amp;CK</a:t>
            </a:r>
            <a:endParaRPr lang="en-AU" sz="3200" b="1" i="1" dirty="0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37125"/>
              </p:ext>
            </p:extLst>
          </p:nvPr>
        </p:nvGraphicFramePr>
        <p:xfrm>
          <a:off x="629462" y="776538"/>
          <a:ext cx="10755713" cy="350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38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1766047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2823882">
                  <a:extLst>
                    <a:ext uri="{9D8B030D-6E8A-4147-A177-3AD203B41FA5}">
                      <a16:colId xmlns:a16="http://schemas.microsoft.com/office/drawing/2014/main" val="2250613113"/>
                    </a:ext>
                  </a:extLst>
                </a:gridCol>
                <a:gridCol w="4661646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4002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dirty="0"/>
                        <a:t>Technique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51694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/>
                        <a:t>Initial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T1566.001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nn-NO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Spear Phishing Attachment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Sending malicious email attachments that exploit vulnerabilities.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5706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/>
                        <a:t>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T1204.002</a:t>
                      </a:r>
                      <a:endParaRPr lang="en-US" sz="140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Malicious File</a:t>
                      </a:r>
                      <a:endParaRPr lang="en-US" sz="140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Tricking users into opening a malicious file or document that runs malware.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31710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/>
                        <a:t>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D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T1547.001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D" sz="140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Registry Run Keys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</a:rPr>
                        <a:t>Using registry keys to ensure the persistence of malware, even after reboot.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/>
                        <a:t>Defense Evasion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T1027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Obfuscated Files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Hiding malicious files or code through obfuscation techniques to evade detection.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/>
                        <a:t>Command and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T1071.001</a:t>
                      </a: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C2 Over HTTPS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Communication with the Command-and-Control server via encrypted HTTPS channels.</a:t>
                      </a:r>
                      <a:endParaRPr lang="en-ID" sz="140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3085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/>
                        <a:t>Credential Access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T1056.001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dirty="0"/>
                        <a:t>Credential Dumping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Stealing user credentials such as passwords from system memory or storage.</a:t>
                      </a:r>
                      <a:endParaRPr lang="en-ID" sz="140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31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Kesimpulan:</a:t>
            </a:r>
            <a:endParaRPr lang="en-US" b="1">
              <a:cs typeface="Arial"/>
            </a:endParaRPr>
          </a:p>
          <a:p>
            <a:r>
              <a:rPr lang="en-US">
                <a:ea typeface="+mn-lt"/>
                <a:cs typeface="+mn-lt"/>
              </a:rPr>
              <a:t>Tim SOC </a:t>
            </a:r>
            <a:r>
              <a:rPr lang="en-US" err="1">
                <a:ea typeface="+mn-lt"/>
                <a:cs typeface="+mn-lt"/>
              </a:rPr>
              <a:t>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pencarian</a:t>
            </a:r>
            <a:r>
              <a:rPr lang="en-US">
                <a:ea typeface="+mn-lt"/>
                <a:cs typeface="+mn-lt"/>
              </a:rPr>
              <a:t> IoC pada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sumber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terbuka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ancaman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trend </a:t>
            </a:r>
            <a:r>
              <a:rPr lang="en-US" err="1">
                <a:ea typeface="+mn-lt"/>
                <a:cs typeface="+mn-lt"/>
              </a:rPr>
              <a:t>serangan</a:t>
            </a:r>
            <a:r>
              <a:rPr lang="en-US">
                <a:ea typeface="+mn-lt"/>
                <a:cs typeface="+mn-lt"/>
              </a:rPr>
              <a:t> yang </a:t>
            </a:r>
            <a:r>
              <a:rPr lang="en-US" err="1">
                <a:ea typeface="+mn-lt"/>
                <a:cs typeface="+mn-lt"/>
              </a:rPr>
              <a:t>sedang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ada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setelah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menemukan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beberapa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tim</a:t>
            </a:r>
            <a:r>
              <a:rPr lang="en-US">
                <a:ea typeface="+mn-lt"/>
                <a:cs typeface="+mn-lt"/>
              </a:rPr>
              <a:t> SOC </a:t>
            </a:r>
            <a:r>
              <a:rPr lang="en-US" err="1">
                <a:ea typeface="+mn-lt"/>
                <a:cs typeface="+mn-lt"/>
              </a:rPr>
              <a:t>melakukan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selama</a:t>
            </a:r>
            <a:r>
              <a:rPr lang="en-US">
                <a:ea typeface="+mn-lt"/>
                <a:cs typeface="+mn-lt"/>
              </a:rPr>
              <a:t> 3 </a:t>
            </a:r>
            <a:r>
              <a:rPr lang="en-US" err="1">
                <a:ea typeface="+mn-lt"/>
                <a:cs typeface="+mn-lt"/>
              </a:rPr>
              <a:t>bulan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terakhir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sama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90 </a:t>
            </a:r>
            <a:r>
              <a:rPr lang="en-US" err="1">
                <a:ea typeface="+mn-lt"/>
                <a:cs typeface="+mn-lt"/>
              </a:rPr>
              <a:t>hari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kebelakang</a:t>
            </a:r>
            <a:r>
              <a:rPr lang="en-US">
                <a:ea typeface="+mn-lt"/>
                <a:cs typeface="+mn-lt"/>
              </a:rPr>
              <a:t> dan </a:t>
            </a:r>
            <a:r>
              <a:rPr lang="en-US" err="1">
                <a:ea typeface="+mn-lt"/>
                <a:cs typeface="+mn-lt"/>
              </a:rPr>
              <a:t>hasil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dari</a:t>
            </a:r>
            <a:r>
              <a:rPr lang="en-US">
                <a:ea typeface="+mn-lt"/>
                <a:cs typeface="+mn-lt"/>
              </a:rPr>
              <a:t> retro hunt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tidak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terdeteksi</a:t>
            </a:r>
            <a:r>
              <a:rPr lang="en-US">
                <a:ea typeface="+mn-lt"/>
                <a:cs typeface="+mn-lt"/>
              </a:rPr>
              <a:t> host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file hash, </a:t>
            </a:r>
            <a:r>
              <a:rPr lang="en-US" err="1">
                <a:ea typeface="+mn-lt"/>
                <a:cs typeface="+mn-lt"/>
              </a:rPr>
              <a:t>sebuah</a:t>
            </a:r>
            <a:r>
              <a:rPr lang="en-US">
                <a:ea typeface="+mn-lt"/>
                <a:cs typeface="+mn-lt"/>
              </a:rPr>
              <a:t> request DNS, </a:t>
            </a:r>
            <a:r>
              <a:rPr lang="en-US" err="1">
                <a:ea typeface="+mn-lt"/>
                <a:cs typeface="+mn-lt"/>
              </a:rPr>
              <a:t>maupun</a:t>
            </a:r>
            <a:r>
              <a:rPr lang="en-US">
                <a:ea typeface="+mn-lt"/>
                <a:cs typeface="+mn-lt"/>
              </a:rPr>
              <a:t> juga traffic yang </a:t>
            </a:r>
            <a:r>
              <a:rPr lang="en-US" err="1">
                <a:ea typeface="+mn-lt"/>
                <a:cs typeface="+mn-lt"/>
              </a:rPr>
              <a:t>memiliki</a:t>
            </a:r>
            <a:r>
              <a:rPr lang="en-US">
                <a:ea typeface="+mn-lt"/>
                <a:cs typeface="+mn-lt"/>
              </a:rPr>
              <a:t> action </a:t>
            </a:r>
            <a:r>
              <a:rPr lang="en-US" err="1">
                <a:ea typeface="+mn-lt"/>
                <a:cs typeface="+mn-lt"/>
              </a:rPr>
              <a:t>atau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berhasil</a:t>
            </a:r>
            <a:r>
              <a:rPr lang="en-US">
                <a:ea typeface="+mn-lt"/>
                <a:cs typeface="+mn-lt"/>
              </a:rPr>
              <a:t> allow pada system Firewall yang </a:t>
            </a:r>
            <a:r>
              <a:rPr lang="en-US" err="1">
                <a:ea typeface="+mn-lt"/>
                <a:cs typeface="+mn-lt"/>
              </a:rPr>
              <a:t>terkait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dengan</a:t>
            </a:r>
            <a:r>
              <a:rPr lang="en-US">
                <a:ea typeface="+mn-lt"/>
                <a:cs typeface="+mn-lt"/>
              </a:rPr>
              <a:t> IoC </a:t>
            </a:r>
            <a:r>
              <a:rPr lang="en-US" err="1">
                <a:ea typeface="+mn-lt"/>
                <a:cs typeface="+mn-lt"/>
              </a:rPr>
              <a:t>tersebut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latin typeface="Arial"/>
              <a:cs typeface="Poppins"/>
            </a:endParaRPr>
          </a:p>
          <a:p>
            <a:r>
              <a:rPr lang="en-US" b="1" err="1">
                <a:latin typeface="Arial"/>
                <a:cs typeface="Poppins"/>
              </a:rPr>
              <a:t>Rekomendasi</a:t>
            </a:r>
            <a:r>
              <a:rPr lang="en-US" b="1">
                <a:latin typeface="Arial"/>
                <a:cs typeface="Poppins"/>
              </a:rPr>
              <a:t>:</a:t>
            </a:r>
            <a:endParaRPr lang="sv-SE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Hash SHA 256 pada Cortex XDR.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err="1">
                <a:cs typeface="Arial"/>
              </a:rPr>
              <a:t>Lakukan</a:t>
            </a:r>
            <a:r>
              <a:rPr lang="en-US" sz="160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ID" sz="1600"/>
              <a:t>Email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 </a:t>
            </a:r>
            <a:r>
              <a:rPr lang="en-ID" sz="1600" err="1"/>
              <a:t>harus</a:t>
            </a:r>
            <a:r>
              <a:rPr lang="en-ID" sz="1600"/>
              <a:t> </a:t>
            </a:r>
            <a:r>
              <a:rPr lang="en-ID" sz="1600" err="1"/>
              <a:t>selalu</a:t>
            </a:r>
            <a:r>
              <a:rPr lang="en-ID" sz="1600"/>
              <a:t> </a:t>
            </a:r>
            <a:r>
              <a:rPr lang="en-ID" sz="1600" err="1"/>
              <a:t>diwaspadai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ID" sz="1600" err="1"/>
              <a:t>Jangan</a:t>
            </a:r>
            <a:r>
              <a:rPr lang="en-ID" sz="1600"/>
              <a:t> </a:t>
            </a:r>
            <a:r>
              <a:rPr lang="en-ID" sz="1600" err="1"/>
              <a:t>pernah</a:t>
            </a:r>
            <a:r>
              <a:rPr lang="en-ID" sz="1600"/>
              <a:t> </a:t>
            </a:r>
            <a:r>
              <a:rPr lang="en-ID" sz="1600" err="1"/>
              <a:t>mempercayai</a:t>
            </a:r>
            <a:r>
              <a:rPr lang="en-ID" sz="1600"/>
              <a:t> </a:t>
            </a:r>
            <a:r>
              <a:rPr lang="en-ID" sz="1600" err="1"/>
              <a:t>atau</a:t>
            </a:r>
            <a:r>
              <a:rPr lang="en-ID" sz="1600"/>
              <a:t> </a:t>
            </a:r>
            <a:r>
              <a:rPr lang="en-ID" sz="1600" err="1"/>
              <a:t>membuka</a:t>
            </a:r>
            <a:r>
              <a:rPr lang="en-ID" sz="1600"/>
              <a:t> </a:t>
            </a:r>
            <a:r>
              <a:rPr lang="en-ID" sz="1600" err="1"/>
              <a:t>tautan</a:t>
            </a:r>
            <a:r>
              <a:rPr lang="en-ID" sz="1600"/>
              <a:t> dan </a:t>
            </a:r>
            <a:r>
              <a:rPr lang="en-ID" sz="1600" err="1"/>
              <a:t>lampiran</a:t>
            </a:r>
            <a:r>
              <a:rPr lang="en-ID" sz="1600"/>
              <a:t> yang </a:t>
            </a:r>
            <a:r>
              <a:rPr lang="en-ID" sz="1600" err="1"/>
              <a:t>diterima</a:t>
            </a:r>
            <a:r>
              <a:rPr lang="en-ID" sz="1600"/>
              <a:t> </a:t>
            </a:r>
            <a:r>
              <a:rPr lang="en-ID" sz="1600" err="1"/>
              <a:t>dari</a:t>
            </a:r>
            <a:r>
              <a:rPr lang="en-ID" sz="1600"/>
              <a:t> </a:t>
            </a:r>
            <a:r>
              <a:rPr lang="en-ID" sz="1600" err="1"/>
              <a:t>sumber</a:t>
            </a:r>
            <a:r>
              <a:rPr lang="en-ID" sz="1600"/>
              <a:t>/</a:t>
            </a:r>
            <a:r>
              <a:rPr lang="en-ID" sz="1600" err="1"/>
              <a:t>pengirim</a:t>
            </a:r>
            <a:r>
              <a:rPr lang="en-ID" sz="1600"/>
              <a:t> yang </a:t>
            </a:r>
            <a:r>
              <a:rPr lang="en-ID" sz="1600" err="1"/>
              <a:t>tidak</a:t>
            </a:r>
            <a:r>
              <a:rPr lang="en-ID" sz="1600"/>
              <a:t> </a:t>
            </a:r>
            <a:r>
              <a:rPr lang="en-ID" sz="1600" err="1"/>
              <a:t>dikenal</a:t>
            </a:r>
            <a:r>
              <a:rPr lang="en-ID" sz="1600"/>
              <a:t>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4"/>
              </a:rPr>
              <a:t>https://www.zscaler.com/blogs/security-research/blindeagle-targets-colombian-government-agency-caminho-and-dcrat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5"/>
              </a:rPr>
              <a:t>https://www.seqrite.com/blog/steganographic-campaign-distributing-malware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6"/>
              </a:rPr>
              <a:t>https://cyble.com/blog/stealth-in-layers-unmasking-loader-in-targeted-email-campaigns/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A39D"/>
                </a:solidFill>
                <a:ea typeface="Arial Unicode MS"/>
                <a:cs typeface="+mn-lt"/>
                <a:hlinkClick r:id="rId7"/>
              </a:rPr>
              <a:t>https://www.nextron-systems.com/2025/05/23/katz-stealer-threat-analysis/</a:t>
            </a: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705</Words>
  <Application>Microsoft Office PowerPoint</Application>
  <PresentationFormat>Widescreen</PresentationFormat>
  <Paragraphs>132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Al khadri Fuado</cp:lastModifiedBy>
  <cp:revision>193</cp:revision>
  <dcterms:created xsi:type="dcterms:W3CDTF">2020-06-05T02:05:00Z</dcterms:created>
  <dcterms:modified xsi:type="dcterms:W3CDTF">2026-04-19T07:59:08Z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