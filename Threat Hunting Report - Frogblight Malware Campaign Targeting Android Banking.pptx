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8"/>
  </p:notesMasterIdLst>
  <p:sldIdLst>
    <p:sldId id="374" r:id="rId6"/>
    <p:sldId id="335" r:id="rId7"/>
    <p:sldId id="397" r:id="rId8"/>
    <p:sldId id="443" r:id="rId9"/>
    <p:sldId id="398" r:id="rId10"/>
    <p:sldId id="445" r:id="rId11"/>
    <p:sldId id="441" r:id="rId12"/>
    <p:sldId id="440" r:id="rId13"/>
    <p:sldId id="418" r:id="rId14"/>
    <p:sldId id="408" r:id="rId15"/>
    <p:sldId id="417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zimperium.com/blog/mobile-threat-watch/frogblight-malware-expands-android-banking-and-identity-theft-risk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securelist.com/frogblight-banker/118440/" TargetMode="External"/><Relationship Id="rId5" Type="http://schemas.openxmlformats.org/officeDocument/2006/relationships/hyperlink" Target="https://www.broadcom.com/support/security-center/protection-bulletin/frogblight-mobile-malware" TargetMode="External"/><Relationship Id="rId4" Type="http://schemas.openxmlformats.org/officeDocument/2006/relationships/hyperlink" Target="https://cybersecuritynews.com/new-android-malware-frogblight-mimics-as-official-government-website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 err="1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Frogblight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 Malware Campaign Targeting Android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648681"/>
            <a:ext cx="6704967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 err="1">
                <a:latin typeface="Poppins"/>
                <a:cs typeface="Poppins"/>
              </a:rPr>
              <a:t>Frogblight</a:t>
            </a:r>
            <a:r>
              <a:rPr lang="en-US" sz="1600" b="1" dirty="0">
                <a:latin typeface="Poppins"/>
                <a:cs typeface="Poppins"/>
              </a:rPr>
              <a:t> Malware Campaign Targeting Android Banking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dirty="0" err="1"/>
              <a:t>Sebuah</a:t>
            </a:r>
            <a:r>
              <a:rPr lang="en-ID" sz="1500" dirty="0"/>
              <a:t> </a:t>
            </a:r>
            <a:r>
              <a:rPr lang="en-ID" sz="1500" dirty="0" err="1"/>
              <a:t>kampanye</a:t>
            </a:r>
            <a:r>
              <a:rPr lang="en-ID" sz="1500" dirty="0"/>
              <a:t> yang </a:t>
            </a:r>
            <a:r>
              <a:rPr lang="en-ID" sz="1500" dirty="0" err="1"/>
              <a:t>menargetkan</a:t>
            </a:r>
            <a:r>
              <a:rPr lang="en-ID" sz="1500" dirty="0"/>
              <a:t> </a:t>
            </a:r>
            <a:r>
              <a:rPr lang="en-ID" sz="1500" dirty="0" err="1"/>
              <a:t>individu</a:t>
            </a:r>
            <a:r>
              <a:rPr lang="en-ID" sz="1500" dirty="0"/>
              <a:t> </a:t>
            </a:r>
            <a:r>
              <a:rPr lang="en-ID" sz="1500" dirty="0" err="1"/>
              <a:t>dengan</a:t>
            </a:r>
            <a:r>
              <a:rPr lang="en-ID" sz="1500" dirty="0"/>
              <a:t> Trojan </a:t>
            </a:r>
            <a:r>
              <a:rPr lang="en-ID" sz="1500" dirty="0" err="1"/>
              <a:t>perbankan</a:t>
            </a:r>
            <a:r>
              <a:rPr lang="en-ID" sz="1500" dirty="0"/>
              <a:t> Android </a:t>
            </a:r>
            <a:r>
              <a:rPr lang="en-ID" sz="1500" dirty="0" err="1"/>
              <a:t>baru</a:t>
            </a:r>
            <a:r>
              <a:rPr lang="en-ID" sz="1500" dirty="0"/>
              <a:t> yang di </a:t>
            </a:r>
            <a:r>
              <a:rPr lang="en-ID" sz="1500" dirty="0" err="1"/>
              <a:t>juluki</a:t>
            </a:r>
            <a:r>
              <a:rPr lang="en-ID" sz="1500" dirty="0"/>
              <a:t> "</a:t>
            </a:r>
            <a:r>
              <a:rPr lang="en-ID" sz="1500" dirty="0" err="1"/>
              <a:t>Frogblight</a:t>
            </a:r>
            <a:r>
              <a:rPr lang="en-ID" sz="1500" dirty="0"/>
              <a:t>".</a:t>
            </a:r>
            <a:r>
              <a:rPr lang="en-ID" sz="1500" dirty="0" err="1"/>
              <a:t>Awalnya</a:t>
            </a:r>
            <a:r>
              <a:rPr lang="en-ID" sz="1500" dirty="0"/>
              <a:t>, malware </a:t>
            </a:r>
            <a:r>
              <a:rPr lang="en-ID" sz="1500" dirty="0" err="1"/>
              <a:t>tersebut</a:t>
            </a:r>
            <a:r>
              <a:rPr lang="en-ID" sz="1500" dirty="0"/>
              <a:t> </a:t>
            </a:r>
            <a:r>
              <a:rPr lang="en-ID" sz="1500" dirty="0" err="1"/>
              <a:t>menyamar</a:t>
            </a:r>
            <a:r>
              <a:rPr lang="en-ID" sz="1500" dirty="0"/>
              <a:t> </a:t>
            </a:r>
            <a:r>
              <a:rPr lang="en-ID" sz="1500" dirty="0" err="1"/>
              <a:t>sebagai</a:t>
            </a:r>
            <a:r>
              <a:rPr lang="en-ID" sz="1500" dirty="0"/>
              <a:t> </a:t>
            </a:r>
            <a:r>
              <a:rPr lang="en-ID" sz="1500" dirty="0" err="1"/>
              <a:t>aplikasi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mengakses</a:t>
            </a:r>
            <a:r>
              <a:rPr lang="en-ID" sz="1500" dirty="0"/>
              <a:t> </a:t>
            </a:r>
            <a:r>
              <a:rPr lang="en-ID" sz="1500" dirty="0" err="1"/>
              <a:t>berkas</a:t>
            </a:r>
            <a:r>
              <a:rPr lang="en-ID" sz="1500" dirty="0"/>
              <a:t> </a:t>
            </a:r>
            <a:r>
              <a:rPr lang="en-ID" sz="1500" dirty="0" err="1"/>
              <a:t>kasus</a:t>
            </a:r>
            <a:r>
              <a:rPr lang="en-ID" sz="1500" dirty="0"/>
              <a:t> </a:t>
            </a:r>
            <a:r>
              <a:rPr lang="en-ID" sz="1500" dirty="0" err="1"/>
              <a:t>pengadilan</a:t>
            </a:r>
            <a:r>
              <a:rPr lang="en-ID" sz="1500" dirty="0"/>
              <a:t> </a:t>
            </a:r>
            <a:r>
              <a:rPr lang="en-ID" sz="1500" dirty="0" err="1"/>
              <a:t>melalui</a:t>
            </a:r>
            <a:r>
              <a:rPr lang="en-ID" sz="1500" dirty="0"/>
              <a:t> </a:t>
            </a:r>
            <a:r>
              <a:rPr lang="en-ID" sz="1500" dirty="0" err="1"/>
              <a:t>halaman</a:t>
            </a:r>
            <a:r>
              <a:rPr lang="en-ID" sz="1500" dirty="0"/>
              <a:t> web </a:t>
            </a:r>
            <a:r>
              <a:rPr lang="en-ID" sz="1500" dirty="0" err="1"/>
              <a:t>resmi</a:t>
            </a:r>
            <a:r>
              <a:rPr lang="en-ID" sz="1500" dirty="0"/>
              <a:t> </a:t>
            </a:r>
            <a:r>
              <a:rPr lang="en-ID" sz="1500" dirty="0" err="1"/>
              <a:t>pemerintah</a:t>
            </a:r>
            <a:r>
              <a:rPr lang="en-ID" sz="1500" dirty="0"/>
              <a:t>. </a:t>
            </a:r>
            <a:r>
              <a:rPr lang="en-ID" sz="1500" dirty="0" err="1"/>
              <a:t>Kemudian</a:t>
            </a:r>
            <a:r>
              <a:rPr lang="en-ID" sz="1500" dirty="0"/>
              <a:t>, </a:t>
            </a:r>
            <a:r>
              <a:rPr lang="en-ID" sz="1500" dirty="0" err="1"/>
              <a:t>muncul</a:t>
            </a:r>
            <a:r>
              <a:rPr lang="en-ID" sz="1500" dirty="0"/>
              <a:t> </a:t>
            </a:r>
            <a:r>
              <a:rPr lang="en-ID" sz="1500" dirty="0" err="1"/>
              <a:t>penyamaran</a:t>
            </a:r>
            <a:r>
              <a:rPr lang="en-ID" sz="1500" dirty="0"/>
              <a:t> yang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umum</a:t>
            </a:r>
            <a:r>
              <a:rPr lang="en-ID" sz="1500" dirty="0"/>
              <a:t>, </a:t>
            </a:r>
            <a:r>
              <a:rPr lang="en-ID" sz="1500" dirty="0" err="1"/>
              <a:t>seperti</a:t>
            </a:r>
            <a:r>
              <a:rPr lang="en-ID" sz="1500" dirty="0"/>
              <a:t> browser Chrome.</a:t>
            </a:r>
          </a:p>
          <a:p>
            <a:pPr algn="just"/>
            <a:r>
              <a:rPr lang="en-ID" sz="1500" dirty="0" err="1"/>
              <a:t>Frogblight</a:t>
            </a:r>
            <a:r>
              <a:rPr lang="en-ID" sz="1500" dirty="0"/>
              <a:t> </a:t>
            </a:r>
            <a:r>
              <a:rPr lang="en-ID" sz="1500" dirty="0" err="1"/>
              <a:t>dapat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situs web </a:t>
            </a:r>
            <a:r>
              <a:rPr lang="en-ID" sz="1500" dirty="0" err="1"/>
              <a:t>resmi</a:t>
            </a:r>
            <a:r>
              <a:rPr lang="en-ID" sz="1500" dirty="0"/>
              <a:t> </a:t>
            </a:r>
            <a:r>
              <a:rPr lang="en-ID" sz="1500" dirty="0" err="1"/>
              <a:t>pemerintah</a:t>
            </a:r>
            <a:r>
              <a:rPr lang="en-ID" sz="1500" dirty="0"/>
              <a:t> </a:t>
            </a:r>
            <a:r>
              <a:rPr lang="en-ID" sz="1500" dirty="0" err="1"/>
              <a:t>sebagai</a:t>
            </a:r>
            <a:r>
              <a:rPr lang="en-ID" sz="1500" dirty="0"/>
              <a:t> </a:t>
            </a:r>
            <a:r>
              <a:rPr lang="en-ID" sz="1500" dirty="0" err="1"/>
              <a:t>perantara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mencuri</a:t>
            </a:r>
            <a:r>
              <a:rPr lang="en-ID" sz="1500" dirty="0"/>
              <a:t> </a:t>
            </a:r>
            <a:r>
              <a:rPr lang="en-ID" sz="1500" dirty="0" err="1"/>
              <a:t>kredensial</a:t>
            </a:r>
            <a:r>
              <a:rPr lang="en-ID" sz="1500" dirty="0"/>
              <a:t> </a:t>
            </a:r>
            <a:r>
              <a:rPr lang="en-ID" sz="1500" dirty="0" err="1"/>
              <a:t>perbankan</a:t>
            </a:r>
            <a:r>
              <a:rPr lang="en-ID" sz="1500" dirty="0"/>
              <a:t>. </a:t>
            </a:r>
            <a:r>
              <a:rPr lang="en-ID" sz="1500" dirty="0" err="1"/>
              <a:t>Selain</a:t>
            </a:r>
            <a:r>
              <a:rPr lang="en-ID" sz="1500" dirty="0"/>
              <a:t> </a:t>
            </a:r>
            <a:r>
              <a:rPr lang="en-ID" sz="1500" dirty="0" err="1"/>
              <a:t>itu</a:t>
            </a:r>
            <a:r>
              <a:rPr lang="en-ID" sz="1500" dirty="0"/>
              <a:t>, </a:t>
            </a:r>
            <a:r>
              <a:rPr lang="en-ID" sz="1500" dirty="0" err="1"/>
              <a:t>ia</a:t>
            </a:r>
            <a:r>
              <a:rPr lang="en-ID" sz="1500" dirty="0"/>
              <a:t> </a:t>
            </a:r>
            <a:r>
              <a:rPr lang="en-ID" sz="1500" dirty="0" err="1"/>
              <a:t>memiliki</a:t>
            </a:r>
            <a:r>
              <a:rPr lang="en-ID" sz="1500" dirty="0"/>
              <a:t> </a:t>
            </a:r>
            <a:r>
              <a:rPr lang="en-ID" sz="1500" dirty="0" err="1"/>
              <a:t>fungsi</a:t>
            </a:r>
            <a:r>
              <a:rPr lang="en-ID" sz="1500" dirty="0"/>
              <a:t> spyware, </a:t>
            </a:r>
            <a:r>
              <a:rPr lang="en-ID" sz="1500" dirty="0" err="1"/>
              <a:t>seperti</a:t>
            </a:r>
            <a:r>
              <a:rPr lang="en-ID" sz="1500" dirty="0"/>
              <a:t> </a:t>
            </a:r>
            <a:r>
              <a:rPr lang="en-ID" sz="1500" dirty="0" err="1"/>
              <a:t>kemampuan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mengumpulkan</a:t>
            </a:r>
            <a:r>
              <a:rPr lang="en-ID" sz="1500" dirty="0"/>
              <a:t> </a:t>
            </a:r>
            <a:r>
              <a:rPr lang="en-ID" sz="1500" dirty="0" err="1"/>
              <a:t>pesan</a:t>
            </a:r>
            <a:r>
              <a:rPr lang="en-ID" sz="1500" dirty="0"/>
              <a:t>, daftar </a:t>
            </a:r>
            <a:r>
              <a:rPr lang="en-ID" sz="1500" dirty="0" err="1"/>
              <a:t>aplikasi</a:t>
            </a:r>
            <a:r>
              <a:rPr lang="en-ID" sz="1500" dirty="0"/>
              <a:t> yang </a:t>
            </a:r>
            <a:r>
              <a:rPr lang="en-ID" sz="1500" dirty="0" err="1"/>
              <a:t>terpasang</a:t>
            </a:r>
            <a:r>
              <a:rPr lang="en-ID" sz="1500" dirty="0"/>
              <a:t> di </a:t>
            </a:r>
            <a:r>
              <a:rPr lang="en-ID" sz="1500" dirty="0" err="1"/>
              <a:t>perangkat</a:t>
            </a:r>
            <a:r>
              <a:rPr lang="en-ID" sz="1500" dirty="0"/>
              <a:t>, dan </a:t>
            </a:r>
            <a:r>
              <a:rPr lang="en-ID" sz="1500" dirty="0" err="1"/>
              <a:t>informasi</a:t>
            </a:r>
            <a:r>
              <a:rPr lang="en-ID" sz="1500" dirty="0"/>
              <a:t> </a:t>
            </a:r>
            <a:r>
              <a:rPr lang="en-ID" sz="1500" dirty="0" err="1"/>
              <a:t>sistem</a:t>
            </a:r>
            <a:r>
              <a:rPr lang="en-ID" sz="1500" dirty="0"/>
              <a:t> file </a:t>
            </a:r>
            <a:r>
              <a:rPr lang="en-ID" sz="1500" dirty="0" err="1"/>
              <a:t>perangkat</a:t>
            </a:r>
            <a:r>
              <a:rPr lang="en-ID" sz="1500" dirty="0"/>
              <a:t>. </a:t>
            </a:r>
            <a:r>
              <a:rPr lang="en-ID" sz="1500" dirty="0" err="1"/>
              <a:t>Ia</a:t>
            </a:r>
            <a:r>
              <a:rPr lang="en-ID" sz="1500" dirty="0"/>
              <a:t> juga </a:t>
            </a:r>
            <a:r>
              <a:rPr lang="en-ID" sz="1500" dirty="0" err="1"/>
              <a:t>dapat</a:t>
            </a:r>
            <a:r>
              <a:rPr lang="en-ID" sz="1500" dirty="0"/>
              <a:t> </a:t>
            </a:r>
            <a:r>
              <a:rPr lang="en-ID" sz="1500" dirty="0" err="1"/>
              <a:t>mengirim</a:t>
            </a:r>
            <a:r>
              <a:rPr lang="en-ID" sz="1500" dirty="0"/>
              <a:t> </a:t>
            </a:r>
            <a:r>
              <a:rPr lang="en-ID" sz="1500" dirty="0" err="1"/>
              <a:t>pesan</a:t>
            </a:r>
            <a:r>
              <a:rPr lang="en-ID" sz="1500" dirty="0"/>
              <a:t> SMS </a:t>
            </a:r>
            <a:r>
              <a:rPr lang="en-ID" sz="1500" dirty="0" err="1"/>
              <a:t>sembarangan</a:t>
            </a:r>
            <a:r>
              <a:rPr lang="en-ID" sz="1500" dirty="0"/>
              <a:t>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Spear-Phishing Campaigns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Malicious Android Applications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Credential Harvesting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Command-and-Control (C2) 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Data Exfiltration from Mobile Devices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Financial Institutions &amp; Banking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General Mobile Users (Android Users)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/>
              <a:t>Government &amp; Public Sector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Telekomunikasi dan </a:t>
            </a:r>
            <a:r>
              <a:rPr lang="en-ID" sz="1500" dirty="0" err="1">
                <a:ea typeface="+mn-lt"/>
                <a:cs typeface="+mn-lt"/>
              </a:rPr>
              <a:t>Teknologi</a:t>
            </a:r>
            <a:endParaRPr lang="en-ID" sz="1500" dirty="0"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07DAA-6B0A-4AC1-8C28-FE200BABB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381" y="1075764"/>
            <a:ext cx="5140205" cy="358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 err="1"/>
              <a:t>Frogblight</a:t>
            </a:r>
            <a:r>
              <a:rPr lang="en-US" sz="1600" b="1" dirty="0"/>
              <a:t> Malware Campaign Targeting Android Banking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 err="1"/>
              <a:t>Frogblight</a:t>
            </a:r>
            <a:r>
              <a:rPr lang="en-US" sz="1600" dirty="0"/>
              <a:t> Malware Campaign Targeting Android Banking.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534376"/>
              </p:ext>
            </p:extLst>
          </p:nvPr>
        </p:nvGraphicFramePr>
        <p:xfrm>
          <a:off x="346101" y="1875864"/>
          <a:ext cx="5521299" cy="3650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70b719a153aa6f3e5407bd487a00dccad250f917d6c40bd625920db8e9255c02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0ebac21f450785766437e4e5dcda121817b198786876744a52cba0627babd1a9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49172f48e354316d1db787a1df1955197e64664b4ed695ed8b5b4491e3167688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b50888244a4e71f049d6807658860447715e0dc1367bf90f48514e090dcc9fad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c9962e1f58876a9b9cae3b4bf52af3466141ecf16601f9b0558410232fc08207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fe36420caa309941dcd8ec2fab4da905b185b8fdad86d9383dcb46c859f66454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1249124fr1241og5121.sa[.]com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froglive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45[.]138[.]16[.]208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9C5EE-7399-4F45-8AE3-D79A1000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624" y="4614299"/>
            <a:ext cx="9076558" cy="1241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2FC1E-7EEA-4BD9-A391-771B2139F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624" y="3353116"/>
            <a:ext cx="9076558" cy="11939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1D5D5-5907-4947-8D81-8927DFDA9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24" y="2038851"/>
            <a:ext cx="9076558" cy="1272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14AB53-F9AC-4AC8-9861-8FA8BA038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624" y="699364"/>
            <a:ext cx="9076558" cy="12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Frogblight</a:t>
            </a:r>
            <a:r>
              <a:rPr lang="en-US" sz="1600" b="1" dirty="0">
                <a:latin typeface="Poppins"/>
                <a:ea typeface="+mn-lt"/>
                <a:cs typeface="Poppins"/>
              </a:rPr>
              <a:t> Malware Campaign Targeting Android Banking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4CF77-F3D2-4B50-9618-F12663554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47" y="1901920"/>
            <a:ext cx="10954871" cy="391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B6FA1-2283-4B7E-B23F-BD7E5328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12" y="896471"/>
            <a:ext cx="10165976" cy="45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1C53B-9FA1-464D-8BF9-30EC24D04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8" y="860612"/>
            <a:ext cx="10488707" cy="442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02345" y="685846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</a:t>
            </a:r>
            <a:r>
              <a:rPr lang="en-US" sz="1300" dirty="0" err="1">
                <a:latin typeface="Arial"/>
                <a:cs typeface="Arial"/>
              </a:rPr>
              <a:t>Frogblight</a:t>
            </a:r>
            <a:r>
              <a:rPr lang="en-US" sz="1300" dirty="0">
                <a:latin typeface="Arial"/>
                <a:cs typeface="Arial"/>
              </a:rPr>
              <a:t> Malware Campaign Targeting Android Banking.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BC99C90-FA0F-4758-991F-56D17DCC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66" y="1066647"/>
            <a:ext cx="10264586" cy="251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CB6348-767F-4601-835B-6C89F5953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66" y="3665705"/>
            <a:ext cx="10264586" cy="245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0" y="74863"/>
            <a:ext cx="10755705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Frogblight</a:t>
            </a:r>
            <a:r>
              <a:rPr lang="en-US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Malware Campaign </a:t>
            </a:r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280619"/>
              </p:ext>
            </p:extLst>
          </p:nvPr>
        </p:nvGraphicFramePr>
        <p:xfrm>
          <a:off x="629462" y="776538"/>
          <a:ext cx="10755713" cy="485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823882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61646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T1566.002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Phishing: Spearphishing Link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Delivers phishing messages or SMS containing malicious links that trick victims into downloading a fraudulent Android application.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T1204.002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Execution: Malicious File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victim installs and executes a malicious APK disguised as a legitimate mobile application, allowing the malware to run on the Android device.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T1406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Modify System Settings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Modifies Android system settings or permissions to maintain persistence and ensure the malware continues running after device reboot.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Obfuscated/Encrypted Files or Information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Uses code obfuscation and encrypted payloads to evade detection by mobile security tools and antivirus solutions.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T1417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Input Capture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Captures sensitive user input such as login credentials, banking information, or OTP codes through overlay attacks or keylogging techniques.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/>
                        <a:t>Command and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T1437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Application Layer Protocol: Web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Communicates with remote command-and-control (C2) servers using web protocols such as HTTP or HTTPS to receive instructions and transmit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313567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Exfiltration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T1041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Exfiltration Over C2 Channel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Exfiltrates collected sensitive data from the infected device to attacker-controlled infrastructure through established C2 channels.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https://cybersecuritynews.com/new-android-malware-frogblight-mimics-as-official-government-websites/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https://www.broadcom.com/support/security-center/protection-bulletin/frogblight-mobile-malware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6"/>
              </a:rPr>
              <a:t>https://securelist.com/frogblight-banker/118440/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https://zimperium.com/blog/mobile-threat-watch/frogblight-malware-expands-android-banking-and-identity-theft-risks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2390</TotalTime>
  <Words>775</Words>
  <Application>Microsoft Office PowerPoint</Application>
  <PresentationFormat>Widescreen</PresentationFormat>
  <Paragraphs>115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Al khadri Fuado</cp:lastModifiedBy>
  <cp:revision>165</cp:revision>
  <dcterms:created xsi:type="dcterms:W3CDTF">2020-06-05T02:05:00Z</dcterms:created>
  <dcterms:modified xsi:type="dcterms:W3CDTF">2026-03-06T23:35:52Z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